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16776607" r:id="rId3"/>
    <p:sldId id="16776608" r:id="rId4"/>
    <p:sldId id="16776606" r:id="rId5"/>
    <p:sldId id="16776604" r:id="rId6"/>
    <p:sldId id="16776355" r:id="rId7"/>
    <p:sldId id="16776600" r:id="rId8"/>
    <p:sldId id="16776594" r:id="rId9"/>
    <p:sldId id="16776595" r:id="rId10"/>
    <p:sldId id="16776596" r:id="rId11"/>
    <p:sldId id="1677659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3860" autoAdjust="0"/>
  </p:normalViewPr>
  <p:slideViewPr>
    <p:cSldViewPr snapToGrid="0">
      <p:cViewPr varScale="1">
        <p:scale>
          <a:sx n="111" d="100"/>
          <a:sy n="111" d="100"/>
        </p:scale>
        <p:origin x="9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393856" y="719902"/>
            <a:ext cx="11416010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项目基石的积极度显著提升，特别是对于估值合理的优质项目参与比例较高</a:t>
            </a:r>
            <a:endParaRPr lang="en-US" altLang="zh-CN" sz="105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年至今共有</a:t>
            </a:r>
            <a:r>
              <a:rPr lang="en-US" altLang="zh-CN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53</a:t>
            </a:r>
            <a:r>
              <a:rPr lang="zh-CN" alt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家港股</a:t>
            </a:r>
            <a:r>
              <a:rPr lang="en-US" altLang="zh-CN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38%</a:t>
            </a:r>
            <a:r>
              <a:rPr lang="zh-CN" altLang="en-US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，基石中非纯财务投资者平均比例为</a:t>
            </a:r>
            <a:r>
              <a:rPr lang="en-US" altLang="zh-CN" sz="105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31%</a:t>
            </a:r>
            <a:endParaRPr lang="en-US" sz="105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62968" y="6444153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441517"/>
              </p:ext>
            </p:extLst>
          </p:nvPr>
        </p:nvGraphicFramePr>
        <p:xfrm>
          <a:off x="523880" y="1127256"/>
          <a:ext cx="11425030" cy="5202660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7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2026-06-17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琻捷电子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元线传感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Soc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隆威香港（保隆汽车）（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3.06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9.57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David 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阎焱（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（李锋）（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3.90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（庄家颖）（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2.60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29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天辰生物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过敏性疾病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药物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睿郡资产（华泰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（张国锋）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源峰（银河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80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2026-06-05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大金重工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海上风电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GIC（80）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高瓴（50）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CPE（39.99）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GAM（30）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泰康人寿（30）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Eastspring（16）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Pinpoint（30）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工银理财（20）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Marshall Wace（20）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Millennium（20）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中邮理财（12）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富国基金（10）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云英谷科技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显示驱动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芯片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Digital Vista GD Investment LP (45.5)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Limited (5.07)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137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拓璞数控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数控机床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上海闵行（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信庭基金（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富国（富国基金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富国香港）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2.73%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</a:tbl>
          </a:graphicData>
        </a:graphic>
      </p:graphicFrame>
      <p:pic>
        <p:nvPicPr>
          <p:cNvPr id="7" name="图片 17">
            <a:extLst>
              <a:ext uri="{FF2B5EF4-FFF2-40B4-BE49-F238E27FC236}">
                <a16:creationId xmlns:a16="http://schemas.microsoft.com/office/drawing/2014/main" id="{C2F975DC-AAAC-466B-A81B-EBD0A473E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75884" y="4679851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393856" y="6287535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230620"/>
              </p:ext>
            </p:extLst>
          </p:nvPr>
        </p:nvGraphicFramePr>
        <p:xfrm>
          <a:off x="523878" y="799153"/>
          <a:ext cx="11425030" cy="4920690"/>
        </p:xfrm>
        <a:graphic>
          <a:graphicData uri="http://schemas.openxmlformats.org/drawingml/2006/table">
            <a:tbl>
              <a:tblPr/>
              <a:tblGrid>
                <a:gridCol w="67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34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30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9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驭势科技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雄安自动驾驶（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29.08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CYGG （58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集团）（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A LPF（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洪泰证券）（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3.86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88.63%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英派药业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小分子肿瘤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靶向药物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BPV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（通过华泰资本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腾讯控股（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9.99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WWHCP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Exome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Quarter Moon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（上弦月资管）（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65.03%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55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剂泰科技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纳米药物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国风投创新投（国资委）（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Deerfield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Isometry Global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工银瑞信实体（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Lake Bleu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 Asia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5.56%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20440"/>
                  </a:ext>
                </a:extLst>
              </a:tr>
              <a:tr h="32400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乐动机器人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（诸暨市财政局）（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04324"/>
                  </a:ext>
                </a:extLst>
              </a:tr>
              <a:tr h="7055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zh-CN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1187</a:t>
                      </a:r>
                      <a:endParaRPr kumimoji="0" lang="zh-CN" alt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可孚医疗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家用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长沙雨丰（长沙雨花区政府）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(6.99)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蓝思科技（香港）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香港汉清达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中康科技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黄雪林（胜蓝科技）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远信投资（通过银河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(6.51)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 M CONSULTING(3)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TRUST(1)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戴钧安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陆勤超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54.62%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412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天星医疗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SP)(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亦庄财政国资局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)(25)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奥博亚洲四期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(Mega Prime &amp; Poly Platinum)(7)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67.57%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506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商米科技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商业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物联网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XINWUTANG(31.57)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86.33%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36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迈威生物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君实香港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Sanjin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Biologics Venture(3)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昌荣国际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84.91%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2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393856" y="6287535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025109"/>
              </p:ext>
            </p:extLst>
          </p:nvPr>
        </p:nvGraphicFramePr>
        <p:xfrm>
          <a:off x="523880" y="845820"/>
          <a:ext cx="11425032" cy="4142712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55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08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7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5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/4/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ea"/>
                        </a:rPr>
                        <a:t>曦智科技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ea"/>
                        </a:rPr>
                        <a:t>光计算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ea"/>
                        </a:rPr>
                        <a:t>及光互联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32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</a:rPr>
                        <a:t>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楷体" panose="02010609060101010101" pitchFamily="49" charset="-122"/>
                          <a:cs typeface="+mn-ea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+mn-ea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联想</a:t>
                      </a: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中兴通讯（香港）</a:t>
                      </a: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(4.3)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Alibaba Investment (26)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GIC (20)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Baillie Gifford 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BlackRock 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富达国际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Schroders 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淡马锡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上海中移基金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14.6)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HHLRA FUNDS (10)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UBS AM (10)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3W Fund (10)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+mj-lt"/>
                          <a:ea typeface="+mn-ea"/>
                        </a:rPr>
                        <a:t>Aspex</a:t>
                      </a: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j-lt"/>
                          <a:ea typeface="+mn-ea"/>
                        </a:rPr>
                        <a:t>CPE 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景林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广发基金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未来资产证券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工银理财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(2.5)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平安资产管理</a:t>
                      </a:r>
                      <a:r>
                        <a:rPr lang="en-US" altLang="zh-CN" sz="700" dirty="0">
                          <a:latin typeface="+mn-lt"/>
                          <a:ea typeface="+mn-ea"/>
                        </a:rPr>
                        <a:t>(2.5)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4.43%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52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2026/4/23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3296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华勤技术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消费电子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豪威集团（</a:t>
                      </a:r>
                      <a:r>
                        <a:rPr lang="en-US" altLang="zh-CN" sz="700" dirty="0"/>
                        <a:t>15</a:t>
                      </a:r>
                      <a:r>
                        <a:rPr lang="zh-CN" altLang="en-US" sz="700" dirty="0"/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/>
                        <a:t>Green Better</a:t>
                      </a:r>
                      <a:r>
                        <a:rPr lang="zh-CN" altLang="en-US" sz="700" dirty="0"/>
                        <a:t>（小米）（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宏兴国际（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艾唯技术（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sym typeface="+mn-ea"/>
                        </a:rPr>
                        <a:t>Aurora SF</a:t>
                      </a:r>
                      <a:r>
                        <a:rPr lang="zh-CN" altLang="en-US" sz="700" dirty="0">
                          <a:sym typeface="+mn-ea"/>
                        </a:rPr>
                        <a:t>（晶合集成）（</a:t>
                      </a:r>
                      <a:r>
                        <a:rPr lang="en-US" altLang="zh-CN" sz="700" dirty="0"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sym typeface="+mn-ea"/>
                        </a:rPr>
                        <a:t>建滔投资（</a:t>
                      </a:r>
                      <a:r>
                        <a:rPr lang="en-US" altLang="zh-CN" sz="700" dirty="0"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sym typeface="+mn-ea"/>
                        </a:rPr>
                        <a:t>香港君正（</a:t>
                      </a:r>
                      <a:r>
                        <a:rPr lang="en-US" altLang="zh-CN" sz="700" dirty="0"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ym typeface="+mn-ea"/>
                        </a:rPr>
                        <a:t>）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/>
                        <a:t>JPM AM</a:t>
                      </a:r>
                      <a:r>
                        <a:rPr lang="zh-CN" altLang="en-US" sz="700" dirty="0"/>
                        <a:t>（</a:t>
                      </a:r>
                      <a:r>
                        <a:rPr lang="en-US" altLang="zh-CN" sz="700" dirty="0"/>
                        <a:t>68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/>
                        <a:t>UBS GAM</a:t>
                      </a:r>
                      <a:r>
                        <a:rPr lang="zh-CN" altLang="en-US" sz="700" dirty="0"/>
                        <a:t>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高毅（</a:t>
                      </a:r>
                      <a:r>
                        <a:rPr lang="en-US" altLang="zh-CN" sz="700" dirty="0"/>
                        <a:t>20</a:t>
                      </a:r>
                      <a:r>
                        <a:rPr lang="zh-CN" altLang="en-US" sz="700" dirty="0"/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/>
                        <a:t>Cloud Map</a:t>
                      </a:r>
                      <a:r>
                        <a:rPr lang="zh-CN" altLang="en-US" sz="700" dirty="0"/>
                        <a:t>（</a:t>
                      </a:r>
                      <a:r>
                        <a:rPr lang="en-US" altLang="zh-CN" sz="700" dirty="0"/>
                        <a:t>20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泰康人寿（</a:t>
                      </a:r>
                      <a:r>
                        <a:rPr lang="en-US" altLang="zh-CN" sz="700" dirty="0"/>
                        <a:t>20</a:t>
                      </a:r>
                      <a:r>
                        <a:rPr lang="zh-CN" altLang="en-US" sz="700" dirty="0"/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/>
                        <a:t>3W Fund</a:t>
                      </a:r>
                      <a:r>
                        <a:rPr lang="zh-CN" altLang="en-US" sz="700" dirty="0"/>
                        <a:t>（</a:t>
                      </a:r>
                      <a:r>
                        <a:rPr lang="en-US" altLang="zh-CN" sz="700" dirty="0"/>
                        <a:t>15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/>
                        <a:t>New China</a:t>
                      </a:r>
                      <a:r>
                        <a:rPr lang="zh-CN" altLang="en-US" sz="700" dirty="0"/>
                        <a:t>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光大理财（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/>
                        <a:t>常春藤（</a:t>
                      </a:r>
                      <a:r>
                        <a:rPr lang="en-US" altLang="zh-CN" sz="700" dirty="0"/>
                        <a:t>10</a:t>
                      </a:r>
                      <a:r>
                        <a:rPr lang="zh-CN" altLang="en-US" sz="700" dirty="0"/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/>
                        <a:t>JinYi</a:t>
                      </a:r>
                      <a:r>
                        <a:rPr lang="en-US" altLang="zh-CN" sz="700" dirty="0"/>
                        <a:t> Capital</a:t>
                      </a:r>
                      <a:r>
                        <a:rPr lang="zh-CN" altLang="en-US" sz="700" dirty="0"/>
                        <a:t>（</a:t>
                      </a:r>
                      <a:r>
                        <a:rPr lang="en-US" altLang="zh-CN" sz="700" dirty="0"/>
                        <a:t>2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1792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393856" y="6287535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091902"/>
              </p:ext>
            </p:extLst>
          </p:nvPr>
        </p:nvGraphicFramePr>
        <p:xfrm>
          <a:off x="634703" y="788277"/>
          <a:ext cx="11146632" cy="4408512"/>
        </p:xfrm>
        <a:graphic>
          <a:graphicData uri="http://schemas.openxmlformats.org/drawingml/2006/table">
            <a:tbl>
              <a:tblPr/>
              <a:tblGrid>
                <a:gridCol w="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718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华勤新加坡（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惠州国投（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28.75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叶国富（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旺旺家办（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涌容资产管理（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Asset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周大福家办（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正大集团（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19.43%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376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空间</a:t>
                      </a:r>
                      <a:endParaRPr kumimoji="0" 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设计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HK (5)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Redwood (8)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28017"/>
                  </a:ext>
                </a:extLst>
              </a:tr>
            </a:tbl>
          </a:graphicData>
        </a:graphic>
      </p:graphicFrame>
      <p:pic>
        <p:nvPicPr>
          <p:cNvPr id="2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9804" y="2617495"/>
            <a:ext cx="423963" cy="38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393856" y="6287535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727624"/>
              </p:ext>
            </p:extLst>
          </p:nvPr>
        </p:nvGraphicFramePr>
        <p:xfrm>
          <a:off x="524044" y="792560"/>
          <a:ext cx="11155634" cy="4957078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02168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68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3277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长光辰芯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传感器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CPE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HHLRA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GAM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Arc Avenue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未来香港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Yield Royal Investment (7.5)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3W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钟鼎资本八期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宁远资本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源码资本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WT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易方达基金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Cithara Fund 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(1.73)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招证投资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2026/4/16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6656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思格新能源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储能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正大机器人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上海陆家嘴</a:t>
                      </a:r>
                      <a:endParaRPr lang="en-US" altLang="zh-CN" sz="7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国泰君安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TRS) (28.89)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Aranda Investments (33)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高盛资产管理 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(31)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Hillhouse (21)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AXA Investment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CPE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Lazurite </a:t>
                      </a:r>
                      <a:r>
                        <a:rPr lang="en-US" altLang="zh-CN" sz="700" dirty="0" err="1">
                          <a:latin typeface="+mn-ea"/>
                          <a:ea typeface="+mn-ea"/>
                        </a:rPr>
                        <a:t>Hime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 L.P.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Barings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太保资管 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富国 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景林资管 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+mn-ea"/>
                          <a:ea typeface="+mn-ea"/>
                        </a:rPr>
                        <a:t>HuadengTechnology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 Space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 Ventures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工银理财 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Scene Cloud Global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3W (10)</a:t>
                      </a:r>
                    </a:p>
                    <a:p>
                      <a:pPr algn="ctr" fontAlgn="ctr"/>
                      <a:r>
                        <a:rPr 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HuadengTechnology</a:t>
                      </a:r>
                      <a:r>
                        <a:rPr 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0.05%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209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383484" y="6529665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41160"/>
              </p:ext>
            </p:extLst>
          </p:nvPr>
        </p:nvGraphicFramePr>
        <p:xfrm>
          <a:off x="383484" y="827314"/>
          <a:ext cx="11287028" cy="5623990"/>
        </p:xfrm>
        <a:graphic>
          <a:graphicData uri="http://schemas.openxmlformats.org/drawingml/2006/table">
            <a:tbl>
              <a:tblPr/>
              <a:tblGrid>
                <a:gridCol w="59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0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7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5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2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0875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3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华沿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机器</a:t>
                      </a: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机器人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HHLRA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广发基金 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MSIP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灏浚投资（通过华泰</a:t>
                      </a: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TRS）(5.8)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Eternal Summer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Shrewd Pioneer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全顺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(3.2)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VVC Technology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晟信集团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(6.4)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瀚天天成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半导体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209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47%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厦门先进制造业基金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(100.72)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2026/3/18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1989.HK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广合科技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源峰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景林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UBS AM(30)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惠理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Eastspring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GBAHIL(15)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MY Asian(10)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霸菱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大家人寿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工银理财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403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2026/3/6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3268.HK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美格智能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名幸电子香港有限公司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锐明电子有限公司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宝月湖深产投共赢企业管理有限公司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(29)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中兴有限公司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Jinyi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 Capital Multi-Strategy Fund SPC Ltd.(2)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开盘财富管理有限公司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周增昌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(7)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553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2692.HK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兆威机电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机械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太湖金谷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VVC Technology 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 联城集团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HHLRA 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+mn-ea"/>
                          <a:ea typeface="+mn-ea"/>
                        </a:rPr>
                        <a:t>Mirae</a:t>
                      </a:r>
                      <a:r>
                        <a:rPr lang="en-US" sz="700" dirty="0">
                          <a:latin typeface="+mn-ea"/>
                          <a:ea typeface="+mn-ea"/>
                        </a:rPr>
                        <a:t> Asset Securities HK 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Perseverance Asset Management (6)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大成国际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广发基金香港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+mn-ea"/>
                          <a:ea typeface="+mn-ea"/>
                        </a:rPr>
                        <a:t>Oakwise</a:t>
                      </a:r>
                      <a:r>
                        <a:rPr lang="en-US" sz="700" dirty="0">
                          <a:latin typeface="+mn-ea"/>
                          <a:ea typeface="+mn-ea"/>
                        </a:rPr>
                        <a:t> Growth Fund 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Jump Trading 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FMF 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拓斯达环球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双诚资本及建投（海外）投资有限公司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中国银河国际投资有限公司（就场外掉期而言）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民银国际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(2)</a:t>
                      </a:r>
                      <a:br>
                        <a:rPr lang="en-US" altLang="zh-CN" sz="700" dirty="0">
                          <a:latin typeface="+mn-ea"/>
                          <a:ea typeface="+mn-ea"/>
                        </a:rPr>
                      </a:b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雾淞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(3)</a:t>
                      </a:r>
                      <a:br>
                        <a:rPr lang="en-US" altLang="zh-CN" sz="700" dirty="0">
                          <a:latin typeface="+mn-ea"/>
                          <a:ea typeface="+mn-ea"/>
                        </a:rPr>
                      </a:b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万源资本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(3)</a:t>
                      </a:r>
                      <a:endParaRPr lang="en-US" sz="700" b="1" dirty="0"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706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2715.HK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埃斯顿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亨通光电国际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Harvest Oriental 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+mn-ea"/>
                          <a:ea typeface="+mn-ea"/>
                        </a:rPr>
                        <a:t>Dream'ee</a:t>
                      </a:r>
                      <a:r>
                        <a:rPr lang="en-US" sz="700" dirty="0">
                          <a:latin typeface="+mn-ea"/>
                          <a:ea typeface="+mn-ea"/>
                        </a:rPr>
                        <a:t> HK Fund 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至源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+mn-ea"/>
                          <a:ea typeface="+mn-ea"/>
                        </a:rPr>
                        <a:t>Haitian </a:t>
                      </a:r>
                      <a:r>
                        <a:rPr lang="en-US" sz="700" dirty="0" err="1">
                          <a:latin typeface="+mn-ea"/>
                          <a:ea typeface="+mn-ea"/>
                        </a:rPr>
                        <a:t>Huayuan</a:t>
                      </a:r>
                      <a:r>
                        <a:rPr lang="en-US" sz="700" dirty="0">
                          <a:latin typeface="+mn-ea"/>
                          <a:ea typeface="+mn-ea"/>
                        </a:rPr>
                        <a:t> 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+mn-ea"/>
                          <a:ea typeface="+mn-ea"/>
                        </a:rPr>
                        <a:t>裕祥 </a:t>
                      </a:r>
                      <a:r>
                        <a:rPr lang="en-US" altLang="zh-CN" sz="700" dirty="0">
                          <a:latin typeface="+mn-ea"/>
                          <a:ea typeface="+mn-ea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+mn-ea"/>
                          <a:ea typeface="+mn-ea"/>
                        </a:rPr>
                        <a:t>前海合眾投資 </a:t>
                      </a:r>
                      <a:r>
                        <a:rPr lang="en-US" altLang="zh-TW" sz="700" dirty="0">
                          <a:latin typeface="+mn-ea"/>
                          <a:ea typeface="+mn-ea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122004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97D7B88-78F3-4A2C-8F7B-FBB746E04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2926116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D885D583-59AB-46E0-AC89-3310BB813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5939132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393858" y="6409654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517255"/>
              </p:ext>
            </p:extLst>
          </p:nvPr>
        </p:nvGraphicFramePr>
        <p:xfrm>
          <a:off x="529839" y="749910"/>
          <a:ext cx="11149839" cy="5581875"/>
        </p:xfrm>
        <a:graphic>
          <a:graphicData uri="http://schemas.openxmlformats.org/drawingml/2006/table">
            <a:tbl>
              <a:tblPr/>
              <a:tblGrid>
                <a:gridCol w="59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210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9981.HK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沃尔核材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通讯电缆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江西省政府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江西铜业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国泰君安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惠州国资委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惠州惠联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(25.7)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山东发展投资控股集团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国惠香港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深圳新宙邦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(7.1)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上海景林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(18)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Jump Trading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深圳新世界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(7.7)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高时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(4.4)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Korea (SCV Alpha) (3.5)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Gallatlion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Resources (Yield Royal)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璞信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国泰君安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易亚投资管理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Factorial 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前海辰星投资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(6)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0470.HK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先导智能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智能装备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Oaktree (30)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Pinpoint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Management (100)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(MY Asian)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Morgan Stanley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欧万达基金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QRT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无锡金筹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国泰海通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Millennium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Rome Garden 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0600.HK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爱芯元智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(JSC International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Investment Fund SPC) (27)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雅戈尔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德赛西威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均胜电子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NGS Super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Factorial (7)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Jupiter Research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GRANITE ASIA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豪恩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(TRS-CICC FT)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观澜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国泰君安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进益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6809.HK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高速互联芯片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摩根大通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(66)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(66)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Capital (66)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China)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Technology (8)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Management (42)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Partners (42)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Aberdeen (19)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Barings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Asset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Asia-Germany Industrial Promotion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QRT (5)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79998"/>
                  </a:ext>
                </a:extLst>
              </a:tr>
            </a:tbl>
          </a:graphicData>
        </a:graphic>
      </p:graphicFrame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4355995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</a:t>
            </a:r>
            <a:r>
              <a:rPr lang="zh-CN" altLang="en-US" dirty="0">
                <a:ea typeface="+mn-ea"/>
                <a:cs typeface="+mn-ea"/>
                <a:sym typeface="+mn-lt"/>
              </a:rPr>
              <a:t>概览（续）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88891"/>
              </p:ext>
            </p:extLst>
          </p:nvPr>
        </p:nvGraphicFramePr>
        <p:xfrm>
          <a:off x="524044" y="874646"/>
          <a:ext cx="11155634" cy="5514332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2060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2677.HK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卓正医疗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医疗服务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33%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金域医学检验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明略科技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Health Vision (5.72)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Galaxy Dynasty (1)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866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2714.HK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生猪养殖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685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(70)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(65)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河南省国资委（香港豫农国际）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Charoen Pokphand Foods (200)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(80)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高毅 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加拿大皇家银行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平安人寿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美的发展控股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BVI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Millennium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Jane Street 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2662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3200.HK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专用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设备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310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GIC (90)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胜宏科技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(9.8)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Schroders (75)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摩根士丹利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西藏源乐晟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TRS-CICC FT)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Wind Sabre 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2758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2026/2/2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2768.HK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高分子材料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41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青岛国资委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利冠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SLD International (10.26)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前海国际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(14.11)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复星国际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(Luminous Horizon)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(5.13)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(2.3)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新嘉财富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(1.92)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(1.28)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申万宏源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9980.HK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软饮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49%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卡塔尔投资局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(Al-Rayyan)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(Huang River Investment)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太白及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True Light) (70)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BlackRock (60)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(HSG Growth)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JPMorgan AM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(Azure Skylines)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Pacific Century Pines Investments 1 (30)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富达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嘉里控股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Velmar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Company)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Pinpoint 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(Amazing Mountain)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加华裕丰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(Great China Motivation Fund)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708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1768.HK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食品饮料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(45)</a:t>
                      </a: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BlackRock (35)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Springs Capital (10)</a:t>
                      </a: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89562"/>
                  </a:ext>
                </a:extLst>
              </a:tr>
            </a:tbl>
          </a:graphicData>
        </a:graphic>
      </p:graphicFrame>
      <p:sp>
        <p:nvSpPr>
          <p:cNvPr id="6" name="文字版面配置區 3"/>
          <p:cNvSpPr txBox="1"/>
          <p:nvPr/>
        </p:nvSpPr>
        <p:spPr>
          <a:xfrm>
            <a:off x="254647" y="6409649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</a:t>
            </a:r>
            <a:r>
              <a:rPr lang="zh-CN" altLang="en-US" dirty="0">
                <a:ea typeface="+mn-ea"/>
                <a:cs typeface="+mn-ea"/>
                <a:sym typeface="+mn-lt"/>
              </a:rPr>
              <a:t>概览（续）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286879"/>
              </p:ext>
            </p:extLst>
          </p:nvPr>
        </p:nvGraphicFramePr>
        <p:xfrm>
          <a:off x="581114" y="712616"/>
          <a:ext cx="11098564" cy="5836400"/>
        </p:xfrm>
        <a:graphic>
          <a:graphicData uri="http://schemas.openxmlformats.org/drawingml/2006/table">
            <a:tbl>
              <a:tblPr/>
              <a:tblGrid>
                <a:gridCol w="53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214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9611.HK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智能产品制造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QUALCOMM (8)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裕同科技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江西国控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(15.5)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青岛观澜（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(8)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Nanhai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Asset Management (5)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77%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917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3986.HK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TCL (20)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天进贸易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(OPPO) (10)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小米集团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源峰基金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(CPE) (40)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上海景林（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(29.7)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Capital (50)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Asia Capital (25)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奇点资产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3W Fund 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新华人寿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顺和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(GBAD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基金管理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(Wind Sabre) (5)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0329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6938.HK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IDG (Arc Avenue) (5)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Bright Stone (4)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大成基金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(10)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Capital (10)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(4)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Regal Gardens Fort Limited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Growth Ventures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Springs Capital (10)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(12)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拾贝能信及自然拾贝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50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3636.HK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有色金属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Glencore PLC (30)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欣旺达电子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(1.29)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Global (10)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North Rock (8)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新亚洲富怡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联域集团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(2.97)</a:t>
                      </a: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Group (2)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1931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0501.HK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豪威集团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宁波国资委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(JSC International Investment) (20)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OPPO (25.71)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(70)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GAM (40)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UG (33.68)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浦东科创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(25)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(15)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489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9903.HK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人工智能芯片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Capital (17)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中兴通讯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(2.42)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华胜天成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(4.3)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通富微电子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第四范式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(13)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安擎计算机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(3.6)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芯鑫租赁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(1.8)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Wind Sabre) (20)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GAM (10)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Qin Wan (12.1)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OCM (10)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衡信基金管理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 (21)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Duckling Fund (20)</a:t>
                      </a: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Partners (4)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China Orient (10.1)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22372"/>
                  </a:ext>
                </a:extLst>
              </a:tr>
            </a:tbl>
          </a:graphicData>
        </a:graphic>
      </p:graphicFrame>
      <p:sp>
        <p:nvSpPr>
          <p:cNvPr id="7" name="文字版面配置區 3"/>
          <p:cNvSpPr txBox="1"/>
          <p:nvPr/>
        </p:nvSpPr>
        <p:spPr>
          <a:xfrm>
            <a:off x="393858" y="6556298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>
            <a:extLst>
              <a:ext uri="{FF2B5EF4-FFF2-40B4-BE49-F238E27FC236}">
                <a16:creationId xmlns:a16="http://schemas.microsoft.com/office/drawing/2014/main" id="{057616F1-9F1F-4D93-A1B7-FBCC99317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4878361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882793"/>
              </p:ext>
            </p:extLst>
          </p:nvPr>
        </p:nvGraphicFramePr>
        <p:xfrm>
          <a:off x="524044" y="865823"/>
          <a:ext cx="11155634" cy="4070671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2513.HK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凌云光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北京市国资委（璟泉启智（北京））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(179)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进益（天津）资产管理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(38)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WT Asset Management (44.9)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(30)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(42)</a:t>
                      </a: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3W Fund (18)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(9.75)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中庸资本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0100.HK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MINIMAX-WP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大模型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China) (30)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ADIA (65)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Master Fund (35)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保诚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易方达基金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IDG Breyer Fund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 (35)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Martis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Fund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Asset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MPC VII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7181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2026/1/6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2675.HK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精锋医疗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手术机器人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ADIA (15)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UBS GAM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China Alpha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China AMC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GBA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Tencent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LYFE Capital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Infini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盘京投资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SAGE Partners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蔡东晨（石药集团执行董事长）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42612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</a:p>
        </p:txBody>
      </p:sp>
      <p:sp>
        <p:nvSpPr>
          <p:cNvPr id="7" name="文字版面配置區 3"/>
          <p:cNvSpPr txBox="1"/>
          <p:nvPr/>
        </p:nvSpPr>
        <p:spPr>
          <a:xfrm>
            <a:off x="393858" y="6470036"/>
            <a:ext cx="11425031" cy="244229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21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9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9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0" name="图片 17">
            <a:extLst>
              <a:ext uri="{FF2B5EF4-FFF2-40B4-BE49-F238E27FC236}">
                <a16:creationId xmlns:a16="http://schemas.microsoft.com/office/drawing/2014/main" id="{0AEDD883-C5A9-412C-BAC6-74C7C49F2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34871" y="4104444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5132</Words>
  <Application>Microsoft Office PowerPoint</Application>
  <PresentationFormat>宽屏</PresentationFormat>
  <Paragraphs>1015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微软雅黑</vt:lpstr>
      <vt:lpstr>楷体</vt:lpstr>
      <vt:lpstr>等线</vt:lpstr>
      <vt:lpstr>等线 Light</vt:lpstr>
      <vt:lpstr>Arial</vt:lpstr>
      <vt:lpstr>calibri</vt:lpstr>
      <vt:lpstr>calibri</vt:lpstr>
      <vt:lpstr>Office 主题​​</vt:lpstr>
      <vt:lpstr>1</vt:lpstr>
      <vt:lpstr>2026年至今港股IPO项目基石投资情况概览</vt:lpstr>
      <vt:lpstr>2026年至今港股IPO项目基石投资情况概览</vt:lpstr>
      <vt:lpstr>2026年至今港股IPO项目基石投资情况概览（续）</vt:lpstr>
      <vt:lpstr>2026年至今港股IPO项目基石投资情况概览（续）</vt:lpstr>
      <vt:lpstr>2026年至今港股IPO项目基石投资情况概览（续）</vt:lpstr>
      <vt:lpstr>2026年至今港股IPO项目基石投资情况概览（续）</vt:lpstr>
      <vt:lpstr>2026年至今港股IPO项目基石投资情况概览（续）</vt:lpstr>
      <vt:lpstr>2026年至今港股IPO项目基石投资情况概览（续）</vt:lpstr>
      <vt:lpstr>2026年至今港股IPO项目基石投资情况概览（续）</vt:lpstr>
      <vt:lpstr>2026年至今港股IPO项目基石投资情况概览（续）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Tianhao Liao 廖天浩</cp:lastModifiedBy>
  <cp:revision>135</cp:revision>
  <dcterms:created xsi:type="dcterms:W3CDTF">2026-01-07T08:09:00Z</dcterms:created>
  <dcterms:modified xsi:type="dcterms:W3CDTF">2026-06-22T03:37:22Z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26B973DB3633484C813CE8EA085DF060_13</vt:lpwstr>
  </property>
  <property fmtid="{D5CDD505-2E9C-101B-9397-08002B2CF9AE}" pid="3" name="KSOProductBuildVer">
    <vt:lpwstr>2052-12.1.0.26375</vt:lpwstr>
  </property>
</Properties>
</file>