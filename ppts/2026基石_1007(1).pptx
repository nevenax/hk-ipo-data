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16776620" r:id="rId3"/>
    <p:sldId id="16776610" r:id="rId4"/>
    <p:sldId id="16776617" r:id="rId5"/>
    <p:sldId id="16776613" r:id="rId6"/>
    <p:sldId id="16776612" r:id="rId7"/>
    <p:sldId id="16776611" r:id="rId8"/>
    <p:sldId id="16776607" r:id="rId9"/>
    <p:sldId id="16776609" r:id="rId10"/>
    <p:sldId id="16776604" r:id="rId11"/>
    <p:sldId id="16776355" r:id="rId12"/>
    <p:sldId id="16776600" r:id="rId13"/>
    <p:sldId id="16776619" r:id="rId14"/>
    <p:sldId id="16776594" r:id="rId15"/>
    <p:sldId id="16776595" r:id="rId16"/>
    <p:sldId id="16776596" r:id="rId17"/>
    <p:sldId id="16776597" r:id="rId18"/>
    <p:sldId id="1677661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F capital" initials="GF" lastIdx="0" clrIdx="0"/>
  <p:cmAuthor id="2" name="User" initials="e" lastIdx="0" clrIdx="1"/>
  <p:cmAuthor id="3" name="Ken Chen 陳立杰" initials="KC陳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6509" autoAdjust="0"/>
  </p:normalViewPr>
  <p:slideViewPr>
    <p:cSldViewPr snapToGrid="0">
      <p:cViewPr varScale="1">
        <p:scale>
          <a:sx n="82" d="100"/>
          <a:sy n="82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2C7B-A040-C080-A837-3291463C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46C41-A040-DFD7-3D3F-3175A36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C1925F-E554-4703-759B-09DD296C8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FAD1E-AAAD-6710-99A0-B6264C325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42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CB1A-4EDC-9529-7DDF-015344CB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44654A-3A16-6814-1424-4AFBF0B03FF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0203075"/>
              </p:ext>
            </p:extLst>
          </p:nvPr>
        </p:nvGraphicFramePr>
        <p:xfrm>
          <a:off x="580526" y="817282"/>
          <a:ext cx="11229340" cy="56556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911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928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194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3228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景旺电子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48%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（25）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中际旭创（50）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香港麦逊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CIG（30）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KHL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建滔集团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 Redwood（50）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奇点资产（25）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博时国际（20）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 Grand（15）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 Fund（10）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 One Asia（10）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 AM（5）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52%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867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3757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罗博特科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232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CIG（10）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淡马锡（45）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夏胜利（7）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郑宵峰（2.8）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晟天实业（40）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Sino Opulence 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（利欧集团）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（4）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Winner Global 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胜利证券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 Sabre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WSOF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承珩（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Zhang Xiaochun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Arrowpoint（7.5）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路华资产管理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（3.1）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Bloom Capital（3）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赖柏霖（30）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朱国栋（5）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007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6731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本末科技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.36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香港科创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（东莞国资委）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（38.87）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（北京经开区财政国资局</a:t>
                      </a:r>
                      <a:r>
                        <a:rPr lang="en-GB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（22.49）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793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9607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彤程新材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浦林成山香港（5.6）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信银投资（18）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Happy Wisdom（15）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周波（8）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满帮（20）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正心谷（10）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Goldshore（45）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杨全海（5）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9392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2026-09-22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9856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纳真科技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737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340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47%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P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rimavera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 Investment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中信建投自营（通过中信建投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A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mbre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 Lau Trade Limited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兆易创新（10）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晶晨半导体（10）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中芯聚源（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HK BVF I LPF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ount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Altai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eak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View Capital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华丰国际（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SCV D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elta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PAG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前海国际（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高腾资管（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tlas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Venture Limited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（德同资本）（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明山资本（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arings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10462"/>
                  </a:ext>
                </a:extLst>
              </a:tr>
            </a:tbl>
          </a:graphicData>
        </a:graphic>
      </p:graphicFrame>
      <p:sp>
        <p:nvSpPr>
          <p:cNvPr id="5" name="标题 10">
            <a:extLst>
              <a:ext uri="{FF2B5EF4-FFF2-40B4-BE49-F238E27FC236}">
                <a16:creationId xmlns:a16="http://schemas.microsoft.com/office/drawing/2014/main" id="{BC6002AC-21D8-55E7-33C8-D260F9F9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>
            <a:extLst>
              <a:ext uri="{FF2B5EF4-FFF2-40B4-BE49-F238E27FC236}">
                <a16:creationId xmlns:a16="http://schemas.microsoft.com/office/drawing/2014/main" id="{6739A45C-AAE9-1D22-3996-D389984D2B73}"/>
              </a:ext>
            </a:extLst>
          </p:cNvPr>
          <p:cNvSpPr txBox="1"/>
          <p:nvPr/>
        </p:nvSpPr>
        <p:spPr>
          <a:xfrm>
            <a:off x="393856" y="453720"/>
            <a:ext cx="1141601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年至今共有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79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家发行规模在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上市公司引入基石投资者，基石投资者占发行规模的平均比例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为</a:t>
            </a:r>
            <a:r>
              <a:rPr lang="en-US" altLang="zh-CN" sz="1000" kern="0" dirty="0">
                <a:latin typeface="Calibri" panose="020F0502020204030204"/>
                <a:cs typeface="+mn-ea"/>
                <a:sym typeface="+mn-lt"/>
              </a:rPr>
              <a:t>47%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，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基石中非纯财务投资者平均比例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为</a:t>
            </a:r>
            <a:r>
              <a:rPr lang="en-US" altLang="zh-CN" sz="1000" kern="0" dirty="0">
                <a:latin typeface="Calibri" panose="020F0502020204030204"/>
                <a:cs typeface="+mn-ea"/>
                <a:sym typeface="+mn-lt"/>
              </a:rPr>
              <a:t>22%</a:t>
            </a:r>
            <a:endParaRPr lang="en-US" sz="1000" kern="0" dirty="0">
              <a:latin typeface="Calibri" panose="020F0502020204030204"/>
              <a:cs typeface="+mn-ea"/>
              <a:sym typeface="+mn-lt"/>
            </a:endParaRP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03035CD9-D85F-3D93-7D41-9932597A7E08}"/>
              </a:ext>
            </a:extLst>
          </p:cNvPr>
          <p:cNvSpPr txBox="1"/>
          <p:nvPr/>
        </p:nvSpPr>
        <p:spPr>
          <a:xfrm>
            <a:off x="419933" y="6690298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4" name="图片 17">
            <a:extLst>
              <a:ext uri="{FF2B5EF4-FFF2-40B4-BE49-F238E27FC236}">
                <a16:creationId xmlns:a16="http://schemas.microsoft.com/office/drawing/2014/main" id="{CEB5065B-8522-CBB2-035B-B18BA7E4DB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5226794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8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738385"/>
              </p:ext>
            </p:extLst>
          </p:nvPr>
        </p:nvGraphicFramePr>
        <p:xfrm>
          <a:off x="523880" y="646222"/>
          <a:ext cx="11229340" cy="5563582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911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97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8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1149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2026-09-08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9976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江波龙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920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151.13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19%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传音国际（25）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七彩虹科技（9.72）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宏芯宇（7.25）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华曦达（2.59）</a:t>
                      </a: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中信资管香港（19.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43</a:t>
                      </a: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AHGO SPC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（TCL）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（12.75）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巨源国际（10）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常青科技（5）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裕丰（20）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（5）</a:t>
                      </a: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81%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187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0625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希音-W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1,768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Boyu（150）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Tiger Global（53）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General Atlantic（50）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景林（30）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腾讯（50）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泰康人寿（30）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 AM Singapore（20）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8822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梅卡曼德机器人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Golden Link（比亚迪全资附属）（6）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Baillie Gifford（60）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泰康人寿（40）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Invus（15）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Jane Street（15）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Ghisallo（15）</a:t>
                      </a: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Ruihua（15）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NGS Super Fund（10）</a:t>
                      </a: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易方达（10）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396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2026-08-25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191.65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Arrow Target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Heading Pioneer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清华大学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8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Emerald Prime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创客天地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部分通过华泰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19.65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Dream‘eeHK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90298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0390" y="711200"/>
          <a:ext cx="11229340" cy="525589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中际旭创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6,814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3,450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华登科技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摩根资产管理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云锋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Wellington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贝恩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&amp; Ninety One Asia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Advisors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建峖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泛大西洋投资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30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滨化股份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项目基石投资情况概览（续）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232272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00" y="614680"/>
          <a:ext cx="11225530" cy="59512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89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（阿布扎比投资局）（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（瑞银资管）（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三菱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Polymer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6951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931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，腾讯旗下）（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宏利（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珞石机器人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All View 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6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24398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6575" y="663575"/>
          <a:ext cx="11229340" cy="602170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6880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苏州魔速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金兴环球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兆易创新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Templeton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7687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富达国际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霸菱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Schroder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Aspex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信安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PFG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高瓴（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Jane Street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WT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惠理（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鲟龙科技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贝莱德（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Barings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Nova Kerry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ACCF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Mirae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49605"/>
          <a:ext cx="11186795" cy="6030172"/>
        </p:xfrm>
        <a:graphic>
          <a:graphicData uri="http://schemas.openxmlformats.org/drawingml/2006/table">
            <a:tbl>
              <a:tblPr/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7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明山资本（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Eurus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清池资本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Lake Bleu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Dream‘ee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Factorial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81.51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 Unicode MS" panose="020B0604020202020204" charset="-122"/>
                        <a:ea typeface="楷体" panose="02010609060101010101" pitchFamily="49" charset="-122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正心谷（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3.51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Loomis Sayles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RTW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Symbiosis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Cormorant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1191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99.24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JSC International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金山云（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双赢科技（佰维存储）（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20.37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10.18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PT Merdeka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托克集团（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开元矿业（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万国黄金（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嘉能可（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摩科瑞（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中伟股份（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1688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1054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406.9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荣耀（深圳国资委）（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宏兴国际（胜宏科技）（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（旺旺家办）（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舜宇光学（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-Capital Funds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207.01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澜起科技（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海燿实业（通富微电子）（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芯耀投资（合肥国资委）（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永联投资（永卓控股）（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Monterey Park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（臻鼎科技）（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Victorious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55625"/>
          <a:ext cx="11424920" cy="5274945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3661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圣邦股份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Ocean Fine Industrial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（通富微电子）（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软通动力（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（三菱）（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Continent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（金洲证券）（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高瓴（代表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CPPIB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6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（东方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启源香港（山西省国资委）（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44.38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云顶新耀（康桥资本）（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顺鸣资本（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6106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元宝家办（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瑞华投资（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ACCF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欣旺达（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2.42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晶科能源（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7.7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淡水泉（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高腾（中金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Mondeomax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Bona Star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9.75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深三和（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SHEEN NATION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陈峰（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82295"/>
          <a:ext cx="11424920" cy="5594985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凯博（宣城市国资委）（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睿远基金（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清池资本（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Sage Partners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盘京基金（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2026-06-17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6675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琻捷电子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隆威香港（保隆汽车）（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3.06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David </a:t>
                      </a: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阎焱（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（李锋）（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（庄家颖）（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1779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天辰生物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睿郡资产（华泰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（张国锋）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源峰（银河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1081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大金重工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3388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创想三维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中信兴业（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CPE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Martis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（天壹）（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博约基金（盈峰）（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GBAHIL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Crestline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Oasis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Jump Trading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Polymer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鼎鑫证券（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Colloway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Seven Grand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Millennium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Optimas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1615436"/>
            <a:ext cx="317972" cy="286620"/>
          </a:xfrm>
          <a:prstGeom prst="rect">
            <a:avLst/>
          </a:prstGeom>
        </p:spPr>
      </p:pic>
      <p:pic>
        <p:nvPicPr>
          <p:cNvPr id="9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613383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788035"/>
          <a:ext cx="11146790" cy="5697855"/>
        </p:xfrm>
        <a:graphic>
          <a:graphicData uri="http://schemas.openxmlformats.org/drawingml/2006/table">
            <a:tbl>
              <a:tblPr/>
              <a:tblGrid>
                <a:gridCol w="59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85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871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云英谷科技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Digital Vista GD Investment LP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（45.5）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Limited （5.07）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7688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拓璞数控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上海闵行（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信庭基金（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富国（富国基金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驭势科技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雄安自动驾驶（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29.08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CYGG （58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集团）（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International A LPF（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洪泰证券）（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3.86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64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7666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剂泰科技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国风投创新投（国资委）（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Deerfield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Isometry Global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工银瑞信实体（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Lake Bleu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 Asia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21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15760" y="1616498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792480"/>
          <a:ext cx="11155680" cy="5702300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19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097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英派药业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BPV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（通过华泰资本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腾讯控股（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9.99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WWHCP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Exome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Quarter Moon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（上弦月资管）（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1236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乐动机器人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（诸暨市财政局）（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1187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可孚医疗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长沙雨丰（长沙雨花区政府）（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6.99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蓝思科技（香港）（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香港汉清达（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中康科技（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黄雪林（胜蓝科技）（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远信投资（通过银河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戴钧安（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陆勤超（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1609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天星医疗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SP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）（亦庄财政国资局）（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奥博亚洲四期（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Mega Prime &amp; Poly Platinum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6810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商米科技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-W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31.57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6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1879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曦智科技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中兴通讯（香港）（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上海中移基金（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488315"/>
          <a:ext cx="11358245" cy="5897245"/>
        </p:xfrm>
        <a:graphic>
          <a:graphicData uri="http://schemas.openxmlformats.org/drawingml/2006/table">
            <a:tbl>
              <a:tblPr/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2493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迈威生物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君实香港（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昌荣国际（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4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3296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华勤技术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（小米）（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艾唯技术（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Aurora SF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（晶合集成）（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建滔投资（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香港君正（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JinYi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2476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胜宏科技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大族数控（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华勤新加坡（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 HK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叶国富（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正大集团（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旺旺家办（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涌容资产管理（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信银投资（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Asset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4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445" y="462320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587711"/>
          <a:ext cx="11358245" cy="5435864"/>
        </p:xfrm>
        <a:graphic>
          <a:graphicData uri="http://schemas.openxmlformats.org/drawingml/2006/table">
            <a:tbl>
              <a:tblPr/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065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群核科技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15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3277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长光辰芯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未来香港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钟鼎资本八期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宁远资本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源码资本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1.73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招证投资（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6656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思格新能源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上海陆家嘴（浦东国资委）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（国泰君安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28.89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正大机器人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Aranda Investments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（淡马锡）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Lazurite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太保资管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HuadengTechnology（10）</a:t>
                      </a: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（高毅）（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TROPICAL TERRAIN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8239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9590" y="466725"/>
          <a:ext cx="11149965" cy="578752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9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299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2726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瀚天天成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厦门先进制造业基金（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100.72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8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1021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华沿机器人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全顺（顺德国资委）（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（30）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 （10）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灏浚投资（通过华泰</a:t>
                      </a: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TRS）（5.8）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Eternal Summer （5）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Shrewd Pioneer （5）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 Technology （3）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晟信集团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73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3355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飞速创新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Aether Wave Fund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SCGC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资本（6.41）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Great Holding（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袁永刚）（14.47）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Fund（Hao Advisors）（20）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Asset Management（10）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Caitong SEIII（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财通资管香港）（9.61）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翠鸣系（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掉期通道合并）（7.18）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前瞻（6.41）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GF Fund HK（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广发基金香港）（5）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凯鹰系（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掉期通道合并）（3.84）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Wider Hugs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Laurena Wu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（1.3）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2701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国民技术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国华人寿（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戴婉琴（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安江波（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0%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7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1989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广合科技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美格智能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名幸电子香港有限公司（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锐明电子有限公司（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宝月湖深产投共赢企业管理有限公司（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清华教育基金会（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开盘财富管理有限公司（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周增昌（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417" y="5175905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6207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432435"/>
          <a:ext cx="11155680" cy="6221096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0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2692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兆威机电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太湖金谷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 Technology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联城集团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拓斯达（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 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 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 Trading （3）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双诚资本（通过建投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恒邦私募（通过银河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雾淞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万源资本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文盈投资（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存然资本（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何茂灵先生（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罗杰先生（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2715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埃斯顿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亨通光电国际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至源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裕祥（网誉科技）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 Oriental 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前海合眾投資 （</a:t>
                      </a:r>
                      <a:r>
                        <a:rPr lang="en-US" altLang="zh-TW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9981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沃尔核材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江西省政府 （江西铜业）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惠州国资委 （惠州惠联）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山东发展投资控股集团 （国惠香港）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深圳新宙邦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上海景林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深圳新世界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高时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Korea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SCV 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Gallatlion Resources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易亚投资管理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前海辰星投资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37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0470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先导智能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欧万达基金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无锡金筹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0600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爱芯元智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（JSC International</a:t>
                      </a:r>
                      <a:b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Investment Fund SPC） （27）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雅戈尔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德赛西威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均胜电子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豪恩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TRS-CICC FT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观澜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进益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5895740"/>
            <a:ext cx="317972" cy="286620"/>
          </a:xfrm>
          <a:prstGeom prst="rect">
            <a:avLst/>
          </a:prstGeom>
        </p:spPr>
      </p:pic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64962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1025" y="661670"/>
          <a:ext cx="11098530" cy="6016944"/>
        </p:xfrm>
        <a:graphic>
          <a:graphicData uri="http://schemas.openxmlformats.org/drawingml/2006/table">
            <a:tbl>
              <a:tblPr/>
              <a:tblGrid>
                <a:gridCol w="53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35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580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河南省国资委（香港豫农国际）（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（宏兴国际）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（通过中金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2026-02-04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（利冠）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10.26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14.11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5.13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1.92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Al-Rayyan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（太白及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Company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Great China Motivation Fund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12140"/>
          <a:ext cx="11155680" cy="5907883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（8）</a:t>
                      </a: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Growth Ventures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（30）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（10）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（8）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（2）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Sabre） （20）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（10）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（12.1）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（10）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（20）</a:t>
                      </a: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（4）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（10.1）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北京市国资委（璟泉启智（北京））（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进益（天津）资产管理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44.9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30860"/>
          <a:ext cx="11155680" cy="6002656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2026-01-12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0501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豪威集团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宁波国资委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浦东科创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33.68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0100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MINIMAX-WP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2675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精锋医疗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Infini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盘京投资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蔡东晨（石药集团执行董事长）（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6082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壁仞科技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神州数码（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亿都 (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Yeebo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)（6.5）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Fund（80）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启明创投（35）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Capital&amp;Hao Advisors（20）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平安集团 (平安人寿保险)（15）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华侨银行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(TRS-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MY.Alpha（12）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泰康保险 (泰康人寿)（10）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Aspirational China Growth（10）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Charoen Pokphand（10）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中和)（8）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南方基金（8）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EIP（5）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Tessy（5）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华福证券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Opportunities SPC)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0081" y="3469850"/>
            <a:ext cx="317972" cy="286620"/>
          </a:xfrm>
          <a:prstGeom prst="rect">
            <a:avLst/>
          </a:prstGeom>
        </p:spPr>
      </p:pic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661" y="107508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79"/>
  <p:tag name="TABLE_ENDDRAG_RECT" val="45*73*884*2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79"/>
  <p:tag name="TABLE_ENDDRAG_RECT" val="45*73*884*27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89"/>
  <p:tag name="TABLE_ENDDRAG_RECT" val="45*56*884*28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3*417"/>
  <p:tag name="TABLE_ENDDRAG_RECT" val="46*48*883*41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446"/>
  <p:tag name="TABLE_ENDDRAG_RECT" val="42*52*884*44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0*326"/>
  <p:tag name="TABLE_ENDDRAG_RECT" val="41*51*880*3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465"/>
  <p:tag name="TABLE_ENDDRAG_RECT" val="41*43*899*46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83"/>
  <p:tag name="TABLE_ENDDRAG_RECT" val="41*45*899*3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271"/>
  <p:tag name="TABLE_ENDDRAG_RECT" val="50*62*877*2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48"/>
  <p:tag name="TABLE_ENDDRAG_RECT" val="41*62*878*44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465"/>
  <p:tag name="TABLE_ENDDRAG_RECT" val="30*38*894*4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479"/>
  <p:tag name="TABLE_ENDDRAG_RECT" val="30*38*894*4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492"/>
  <p:tag name="TABLE_ENDDRAG_RECT" val="41*27*877*4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32"/>
  <p:tag name="TABLE_ENDDRAG_RECT" val="41*44*878*43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327"/>
  <p:tag name="TABLE_ENDDRAG_RECT" val="45*52*873*32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344"/>
  <p:tag name="TABLE_ENDDRAG_RECT" val="41*48*878*3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49"/>
  <p:tag name="TABLE_ENDDRAG_RECT" val="41*48*878*44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11743</Words>
  <Application>Microsoft Office PowerPoint</Application>
  <PresentationFormat>宽屏</PresentationFormat>
  <Paragraphs>1892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 Unicode MS</vt:lpstr>
      <vt:lpstr>等线</vt:lpstr>
      <vt:lpstr>等线 Light</vt:lpstr>
      <vt:lpstr>楷体</vt:lpstr>
      <vt:lpstr>微软雅黑</vt:lpstr>
      <vt:lpstr>Arial</vt:lpstr>
      <vt:lpstr>calibri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砚缇 方</cp:lastModifiedBy>
  <cp:revision>254</cp:revision>
  <dcterms:created xsi:type="dcterms:W3CDTF">2026-01-07T08:09:00Z</dcterms:created>
  <dcterms:modified xsi:type="dcterms:W3CDTF">2026-10-08T03:10:23Z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14D584663B21457BB83B38FFE675927D_13</vt:lpwstr>
  </property>
  <property fmtid="{D5CDD505-2E9C-101B-9397-08002B2CF9AE}" pid="3" name="KSOProductBuildVer">
    <vt:lpwstr>2052-12.1.0.28505</vt:lpwstr>
  </property>
</Properties>
</file>