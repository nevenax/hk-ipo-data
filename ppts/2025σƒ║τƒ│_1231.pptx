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147482783" r:id="rId3"/>
    <p:sldId id="2147482781" r:id="rId4"/>
    <p:sldId id="2147482778" r:id="rId5"/>
    <p:sldId id="2147482780" r:id="rId6"/>
    <p:sldId id="2147482779" r:id="rId7"/>
    <p:sldId id="2147482772" r:id="rId8"/>
    <p:sldId id="2147482773" r:id="rId9"/>
    <p:sldId id="2147482774" r:id="rId10"/>
    <p:sldId id="2147482775" r:id="rId11"/>
    <p:sldId id="2147482776" r:id="rId12"/>
    <p:sldId id="2147482777" r:id="rId13"/>
  </p:sldIdLst>
  <p:sldSz cx="16256000" cy="9144000"/>
  <p:notesSz cx="6858000" cy="9144000"/>
  <p:defaultTextStyle>
    <a:defPPr>
      <a:defRPr lang="zh-CN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cilia Chen" initials="CC" lastIdx="1" clrIdx="0">
    <p:extLst>
      <p:ext uri="{19B8F6BF-5375-455C-9EA6-DF929625EA0E}">
        <p15:presenceInfo xmlns:p15="http://schemas.microsoft.com/office/powerpoint/2012/main" userId="S::ceciliachen@gfgroup.com.hk::aaec8cfa-abfa-4967-bb8a-2872fc9f143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4" autoAdjust="0"/>
    <p:restoredTop sz="94569" autoAdjust="0"/>
  </p:normalViewPr>
  <p:slideViewPr>
    <p:cSldViewPr snapToGrid="0">
      <p:cViewPr>
        <p:scale>
          <a:sx n="150" d="100"/>
          <a:sy n="150" d="100"/>
        </p:scale>
        <p:origin x="-5394" y="-4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0E980-FB11-4537-BE9B-345E605B75B4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6AE7A-A251-4073-91FC-190D7BA98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867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E0B56-854F-4077-96C8-8158257B0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98A298-7E6A-4754-8718-DCB1B648B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0C63A4-B37E-4FA8-9E25-C6950A75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3F3AA6-E548-431E-A421-F38A5F10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19A4D-9304-422A-8C45-F2D2FC53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21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4D441-A51A-4FA1-BF72-9AF81C57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046BE3-284F-4DF7-98BF-DD34202DC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32F57D-7AC6-49BD-BEA1-1D13CAB1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2C2EB-9B25-4464-BF71-D58B5689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24B37-1CE5-4654-A030-B8D5BB88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6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DADDA-6FF8-427B-B0B4-1986C4B5B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94286D-A51E-4569-8897-BF5AE1912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51CCA9-CF5B-40E6-ACE3-FD46347C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3A30E2-DD7A-4065-8DE8-51917A1F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358AC5-801F-4445-B54B-FA7E2C7B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10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B38C1-0230-45C9-AC84-791FA567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A2A30-F0DC-4AA6-A94A-98089DDD9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5D7148-B67C-4A4F-93E0-446F63EA8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7BB06A-5B82-4B46-8EF5-00E70C00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8EA89B-5E1C-4BEC-8AC9-7AE4375A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BEBDA5-BC73-40DF-B351-417D1A67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48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370D0-7907-460C-AD4A-26837563E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F008C2-8BB2-417B-B009-1A7CF8F5B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A721DE-DE7D-404F-BC00-18859AF9C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553756-8545-44D6-88D4-6649FE10E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5EC1B7-FA8F-4326-8835-1BF3269FF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22FCA8-35A6-4A4B-95AC-B581C87F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967684-5B07-460D-A171-E9562132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463274-4EF1-4CBF-8047-0BAAA6D7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95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936B5-EF18-4192-AA1E-A1400460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3FCD6D-B854-4E4F-BB00-C9C0C203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AFE2E8-12DB-4A0D-970E-4BF3B2E5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F7356F-B40C-4BAA-9EDA-0D13BA95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54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00C139-0EFB-49B5-BCAF-4A5BD3CA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078044-D60D-4375-B046-4F4CE771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87D663-A6D4-4D72-932F-05936DC4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13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6A67C-4368-426B-99A2-68BB2D3D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1FA75D-C687-461B-B664-E8A902576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05FF26-E9D1-4404-97DE-639303C37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1DD872-D65A-49F0-9652-876988DA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14ECD-184E-4EF6-8B70-6EA454CB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B89F3E-14EB-4957-8B98-6494FEC4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62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7AF18-D1B8-4546-BBAE-8290FB566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397B7A-0364-4C04-909A-B626C6318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80B7DB-A2A8-4760-B8D1-998CBB4A9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A47CDE-EF83-465C-9104-225A1D22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08C29-7E96-472C-AAC0-11419B81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5BE9BF-00E8-45B0-9310-39BABA3D5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58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58139-9CAE-4C3A-881A-48196163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AD49BC-F5AA-40B4-AB15-2F295517B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4C2326-6CB9-4D98-A092-93D11590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35C437-9F66-4C26-B1DF-8EE89E2B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9516B-486E-4F4E-91E5-C03E2995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59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4AFBC6-4CD8-4645-A427-3C0C1E5F9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3FA22C-B0B2-4E7E-B6C8-F3F4B0013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3C448D-9CB0-42C1-A884-48EA920BE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8FDA6-EC78-4E5D-A26D-E04F7AB7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386DBF-398F-4660-A063-9B074516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498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E70373-B855-AF47-E1CB-06389DD247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522211" y="153092"/>
            <a:ext cx="18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>
            <a:extLst>
              <a:ext uri="{FF2B5EF4-FFF2-40B4-BE49-F238E27FC236}">
                <a16:creationId xmlns:a16="http://schemas.microsoft.com/office/drawing/2014/main" id="{96A18FBB-1CEF-4619-0D5C-B1ECD0AE0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0309" y="3855631"/>
            <a:ext cx="6977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380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914377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0F7E6FF9-431B-D7F0-57E7-764B9A4B9394}"/>
              </a:ext>
            </a:extLst>
          </p:cNvPr>
          <p:cNvGrpSpPr/>
          <p:nvPr userDrawn="1"/>
        </p:nvGrpSpPr>
        <p:grpSpPr>
          <a:xfrm>
            <a:off x="13975" y="756001"/>
            <a:ext cx="16256000" cy="7967913"/>
            <a:chOff x="0" y="640715"/>
            <a:chExt cx="12186920" cy="5973445"/>
          </a:xfrm>
        </p:grpSpPr>
        <p:pic>
          <p:nvPicPr>
            <p:cNvPr id="7" name="图片 3" descr="7c3acec9dfe64eaf469ebff944bb0aa">
              <a:extLst>
                <a:ext uri="{FF2B5EF4-FFF2-40B4-BE49-F238E27FC236}">
                  <a16:creationId xmlns:a16="http://schemas.microsoft.com/office/drawing/2014/main" id="{CDCE33FF-6D2A-145C-9BD0-AB15465B67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>
              <a:extLst>
                <a:ext uri="{FF2B5EF4-FFF2-40B4-BE49-F238E27FC236}">
                  <a16:creationId xmlns:a16="http://schemas.microsoft.com/office/drawing/2014/main" id="{809A1FE2-978A-CBE0-37A5-4905296D1E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>
              <a:extLst>
                <a:ext uri="{FF2B5EF4-FFF2-40B4-BE49-F238E27FC236}">
                  <a16:creationId xmlns:a16="http://schemas.microsoft.com/office/drawing/2014/main" id="{80832157-D473-2C9D-B1DB-B8824DDA9D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>
              <a:extLst>
                <a:ext uri="{FF2B5EF4-FFF2-40B4-BE49-F238E27FC236}">
                  <a16:creationId xmlns:a16="http://schemas.microsoft.com/office/drawing/2014/main" id="{A936B5BF-F1A5-42D6-73D5-CB43513AE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>
              <a:extLst>
                <a:ext uri="{FF2B5EF4-FFF2-40B4-BE49-F238E27FC236}">
                  <a16:creationId xmlns:a16="http://schemas.microsoft.com/office/drawing/2014/main" id="{78C1673C-97E2-F09C-4EE4-38CBA9ED8A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>
            <a:extLst>
              <a:ext uri="{FF2B5EF4-FFF2-40B4-BE49-F238E27FC236}">
                <a16:creationId xmlns:a16="http://schemas.microsoft.com/office/drawing/2014/main" id="{675190B2-A41F-0AAF-B795-74705BA0888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8904" y="95153"/>
            <a:ext cx="3888365" cy="9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96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16773B1-9D67-374F-2971-880247EA25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783592" y="80168"/>
            <a:ext cx="1504867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>
            <a:extLst>
              <a:ext uri="{FF2B5EF4-FFF2-40B4-BE49-F238E27FC236}">
                <a16:creationId xmlns:a16="http://schemas.microsoft.com/office/drawing/2014/main" id="{A26BEB2E-2217-E09F-9A88-B83032D64230}"/>
              </a:ext>
            </a:extLst>
          </p:cNvPr>
          <p:cNvSpPr/>
          <p:nvPr userDrawn="1"/>
        </p:nvSpPr>
        <p:spPr>
          <a:xfrm>
            <a:off x="6724651" y="6762751"/>
            <a:ext cx="990600" cy="1181100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800"/>
          </a:p>
        </p:txBody>
      </p:sp>
      <p:sp>
        <p:nvSpPr>
          <p:cNvPr id="6" name="任意多边形 14">
            <a:extLst>
              <a:ext uri="{FF2B5EF4-FFF2-40B4-BE49-F238E27FC236}">
                <a16:creationId xmlns:a16="http://schemas.microsoft.com/office/drawing/2014/main" id="{6210C636-4C83-FD7C-695E-44E63273E8F9}"/>
              </a:ext>
            </a:extLst>
          </p:cNvPr>
          <p:cNvSpPr/>
          <p:nvPr userDrawn="1"/>
        </p:nvSpPr>
        <p:spPr>
          <a:xfrm>
            <a:off x="0" y="2745000"/>
            <a:ext cx="108000" cy="1368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9" descr="元素3">
            <a:extLst>
              <a:ext uri="{FF2B5EF4-FFF2-40B4-BE49-F238E27FC236}">
                <a16:creationId xmlns:a16="http://schemas.microsoft.com/office/drawing/2014/main" id="{12584E53-00DB-D210-1F62-EFA60AADDE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1185" y="2614296"/>
            <a:ext cx="8944817" cy="1498705"/>
          </a:xfrm>
          <a:prstGeom prst="rect">
            <a:avLst/>
          </a:prstGeom>
        </p:spPr>
      </p:pic>
      <p:pic>
        <p:nvPicPr>
          <p:cNvPr id="9" name="图片 8" descr="文本&#10;&#10;描述已自动生成">
            <a:extLst>
              <a:ext uri="{FF2B5EF4-FFF2-40B4-BE49-F238E27FC236}">
                <a16:creationId xmlns:a16="http://schemas.microsoft.com/office/drawing/2014/main" id="{AAAC3794-D68C-1CC4-A86B-E301948F0B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0001" y="95155"/>
            <a:ext cx="2717268" cy="69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54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2A641A4-731A-4782-9A61-81B92DDF14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991" y="435611"/>
            <a:ext cx="14862035" cy="408431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340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914377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>
            <a:extLst>
              <a:ext uri="{FF2B5EF4-FFF2-40B4-BE49-F238E27FC236}">
                <a16:creationId xmlns:a16="http://schemas.microsoft.com/office/drawing/2014/main" id="{806472CC-044E-FB6F-7063-8B67ABE52D4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40640" y="435611"/>
            <a:ext cx="176531" cy="760095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37F38BEE-1F46-EF7B-B3ED-B7D362047212}"/>
              </a:ext>
            </a:extLst>
          </p:cNvPr>
          <p:cNvGrpSpPr/>
          <p:nvPr userDrawn="1"/>
        </p:nvGrpSpPr>
        <p:grpSpPr>
          <a:xfrm>
            <a:off x="0" y="1162685"/>
            <a:ext cx="16256000" cy="7211907"/>
            <a:chOff x="0" y="1162685"/>
            <a:chExt cx="12192000" cy="5408930"/>
          </a:xfrm>
        </p:grpSpPr>
        <p:pic>
          <p:nvPicPr>
            <p:cNvPr id="10" name="图片 2" descr="元素2">
              <a:extLst>
                <a:ext uri="{FF2B5EF4-FFF2-40B4-BE49-F238E27FC236}">
                  <a16:creationId xmlns:a16="http://schemas.microsoft.com/office/drawing/2014/main" id="{6C0215F2-D37A-62E3-14D1-9CA02F4E42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>
              <a:extLst>
                <a:ext uri="{FF2B5EF4-FFF2-40B4-BE49-F238E27FC236}">
                  <a16:creationId xmlns:a16="http://schemas.microsoft.com/office/drawing/2014/main" id="{07F61CC4-4725-EC78-044D-50DC345CBA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>
            <a:extLst>
              <a:ext uri="{FF2B5EF4-FFF2-40B4-BE49-F238E27FC236}">
                <a16:creationId xmlns:a16="http://schemas.microsoft.com/office/drawing/2014/main" id="{3385D4AD-1950-4197-BFBD-6B6F15944F57}"/>
              </a:ext>
            </a:extLst>
          </p:cNvPr>
          <p:cNvSpPr/>
          <p:nvPr userDrawn="1"/>
        </p:nvSpPr>
        <p:spPr>
          <a:xfrm>
            <a:off x="15439138" y="8729473"/>
            <a:ext cx="816863" cy="4145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lang="en-US" altLang="zh-CN" sz="1800" smtClean="0">
                <a:solidFill>
                  <a:schemeClr val="tx1"/>
                </a:solidFill>
              </a:rPr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>
            <a:extLst>
              <a:ext uri="{FF2B5EF4-FFF2-40B4-BE49-F238E27FC236}">
                <a16:creationId xmlns:a16="http://schemas.microsoft.com/office/drawing/2014/main" id="{F1438887-FEE2-7B59-E6D2-9D45A237C80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186" y="95155"/>
            <a:ext cx="2717268" cy="69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6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3F5225-9CC9-4798-8AE3-FF6EEB7B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150474-5BF9-4D97-952A-0406DE3F7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7FED80-42CA-4E2C-8D7A-AE77FAE9D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C760D-97BC-47F6-A90F-C90D5D70709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B8EAD-4DD1-449E-9339-6F76357FF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41866C-8FDD-4165-8033-7238AEDDA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E15B6-1436-464D-ACA6-5E0E4C634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26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>
            <a:extLst>
              <a:ext uri="{FF2B5EF4-FFF2-40B4-BE49-F238E27FC236}">
                <a16:creationId xmlns:a16="http://schemas.microsoft.com/office/drawing/2014/main" id="{DE312DAB-8777-4CF3-9AC0-3D5D83C35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991" y="417378"/>
            <a:ext cx="14862035" cy="40843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894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8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5" userDrawn="1">
          <p15:clr>
            <a:srgbClr val="F26B43"/>
          </p15:clr>
        </p15:guide>
        <p15:guide id="2" pos="576" userDrawn="1">
          <p15:clr>
            <a:srgbClr val="F26B43"/>
          </p15:clr>
        </p15:guide>
        <p15:guide id="3" pos="13067" userDrawn="1">
          <p15:clr>
            <a:srgbClr val="F26B43"/>
          </p15:clr>
        </p15:guide>
        <p15:guide id="4" orient="horz" pos="1120" userDrawn="1">
          <p15:clr>
            <a:srgbClr val="F26B43"/>
          </p15:clr>
        </p15:guide>
        <p15:guide id="5" orient="horz" pos="7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5" y="434979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>
            <a:extLst>
              <a:ext uri="{FF2B5EF4-FFF2-40B4-BE49-F238E27FC236}">
                <a16:creationId xmlns:a16="http://schemas.microsoft.com/office/drawing/2014/main" id="{2E7CF92D-37C3-4A12-B00F-E148B00E9454}"/>
              </a:ext>
            </a:extLst>
          </p:cNvPr>
          <p:cNvSpPr txBox="1"/>
          <p:nvPr/>
        </p:nvSpPr>
        <p:spPr>
          <a:xfrm>
            <a:off x="525141" y="959869"/>
            <a:ext cx="15221347" cy="5234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319980" indent="-319980" algn="just" defTabSz="914332">
              <a:buFont typeface="Arial" panose="020B0604020202020204" pitchFamily="34" charset="0"/>
              <a:buChar char="•"/>
              <a:defRPr/>
            </a:pPr>
            <a:r>
              <a:rPr lang="en-US" altLang="zh-CN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CN" altLang="en-US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IPO</a:t>
            </a:r>
            <a:r>
              <a:rPr lang="zh-CN" altLang="en-US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项目基石的积极度显著提升，特别是对于估值合理的优质项目参与比例较高</a:t>
            </a:r>
            <a:endParaRPr lang="en-US" altLang="zh-CN" sz="1401" dirty="0">
              <a:solidFill>
                <a:srgbClr val="000000"/>
              </a:solidFill>
              <a:latin typeface="Calibri"/>
              <a:ea typeface="楷体"/>
              <a:cs typeface="+mn-ea"/>
              <a:sym typeface="+mn-lt"/>
            </a:endParaRPr>
          </a:p>
          <a:p>
            <a:pPr marL="319980" indent="-319980" algn="just" defTabSz="914332">
              <a:buFont typeface="Arial" panose="020B0604020202020204" pitchFamily="34" charset="0"/>
              <a:buChar char="•"/>
              <a:defRPr/>
            </a:pPr>
            <a:r>
              <a:rPr lang="en-US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CN" altLang="en-US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年全年共有</a:t>
            </a:r>
            <a:r>
              <a:rPr lang="en-HK" altLang="zh-CN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119</a:t>
            </a:r>
            <a:r>
              <a:rPr lang="zh-CN" altLang="en-US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家公司港股</a:t>
            </a:r>
            <a:r>
              <a:rPr lang="en-US" altLang="zh-CN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IPO</a:t>
            </a:r>
            <a:r>
              <a:rPr lang="zh-CN" altLang="en-US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上市，其中</a:t>
            </a:r>
            <a:r>
              <a:rPr lang="en-US" altLang="zh-CN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89</a:t>
            </a:r>
            <a:r>
              <a:rPr lang="zh-CN" altLang="en-US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家引入基石投资者，基石投资者占发行规模的平均比例为</a:t>
            </a:r>
            <a:r>
              <a:rPr lang="en-HK" altLang="zh-CN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36%</a:t>
            </a:r>
            <a:r>
              <a:rPr lang="zh-CN" altLang="en-US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，基石中非纯财务投资者平均比例为</a:t>
            </a:r>
            <a:r>
              <a:rPr lang="en-US" altLang="zh-CN" sz="1401" dirty="0">
                <a:solidFill>
                  <a:srgbClr val="000000"/>
                </a:solidFill>
                <a:latin typeface="Calibri"/>
                <a:ea typeface="楷体"/>
                <a:cs typeface="+mn-ea"/>
                <a:sym typeface="+mn-lt"/>
              </a:rPr>
              <a:t>41%</a:t>
            </a:r>
            <a:endParaRPr lang="en-US" sz="1401" dirty="0">
              <a:solidFill>
                <a:srgbClr val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082790"/>
              </p:ext>
            </p:extLst>
          </p:nvPr>
        </p:nvGraphicFramePr>
        <p:xfrm>
          <a:off x="698724" y="1667791"/>
          <a:ext cx="15474724" cy="8609906"/>
        </p:xfrm>
        <a:graphic>
          <a:graphicData uri="http://schemas.openxmlformats.org/drawingml/2006/table">
            <a:tbl>
              <a:tblPr/>
              <a:tblGrid>
                <a:gridCol w="82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8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820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15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007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111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797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3333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08256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2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2025/12/30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6082.HK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壁仞科技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智能计算芯片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718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373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华福证券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New Opportunities SPC) (5)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神州数码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3W Fund (80)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启明创投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(35)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Management 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Master Fund) (30)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WT Asset Management (30)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Hao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Capital&amp;Hao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Advisors (20)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平安集团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平安人寿保险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Technology (15)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华侨银行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Lion Global) (15)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CICC FT 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(15)</a:t>
                      </a: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(MY Asian) (12)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保诚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(10)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UBS AG 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泰康保险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(10)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Aspirational China Growth (10)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Charoen Pokphand 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国泰海通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中和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(8)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南方基金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(8)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富国基金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(8)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亿都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Yeebo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(6.5)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EIP (5)</a:t>
                      </a: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Tessy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(5)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30851"/>
                  </a:ext>
                </a:extLst>
              </a:tr>
              <a:tr h="7852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2025/12/29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3696.HK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英矽智能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生成式人工智能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293.0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115.0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39.2%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淡马锡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太白投资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(15)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 Lilly (5)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腾讯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Huang River Investment) (5)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 Oaktree (15)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Schroders (15)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瑞银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(15)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华夏基金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(5)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中国太保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太平洋资产管理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(5)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易方达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(4)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富国基金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(5)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嘉实 基金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(5)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泰康人寿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(5)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RTW Investments (4)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Exome (2)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无极资本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Infini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(10)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22%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559137"/>
                  </a:ext>
                </a:extLst>
              </a:tr>
              <a:tr h="7852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2025/12/24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2671.HK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美联股份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预制建筑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22.0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6.7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30.4%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Tiny Jade(1.3)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Cheerful Moon Global 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彩云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(1.95)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吴兴华先生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(0.59)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逻辑环球资产管理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Logic Selective) (2.86)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19%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47974"/>
                  </a:ext>
                </a:extLst>
              </a:tr>
              <a:tr h="7852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2025/12/24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3317.HK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迅策科技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实时数据基础设施及分析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139.0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39.6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28.5%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中视金桥 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Joy Mobile (1)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 明山资本 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altLang="zh-TW" sz="9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Alphahill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基金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Yunfeng Investments (New Golden Future)(2)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富策控股 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无极资本 </a:t>
                      </a: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Infini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蔷薇控股 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(2.6)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信庭 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Cithara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基金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 Factorial Management (FMF) (2)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28%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470069"/>
                  </a:ext>
                </a:extLst>
              </a:tr>
              <a:tr h="13641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2025/12/24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2657.HK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林清轩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化妆品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140.0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62.0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44.3%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中国保险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大家人寿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(5)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富达基金 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大湾区共同家园 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Mega Prime) (12)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正心谷资本 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LVC)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Grandiflora Hook GP (Duckling Fund)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SS Capital (8)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Gallantlion</a:t>
                      </a:r>
                      <a:r>
                        <a:rPr lang="en-US" altLang="zh-TW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 Resources (Yield Royal Investment) (2)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8%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30288"/>
                  </a:ext>
                </a:extLst>
              </a:tr>
              <a:tr h="4309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2025/12/24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6600.HK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卧安机器人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家庭机器人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211.0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90.0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42.6%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中央汇金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China Orient) (10)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HHLR (HACF,L.P.) (30)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信庭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Cithara) (20)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无极资本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Infini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(15)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观博资本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Wind</a:t>
                      </a:r>
                      <a:r>
                        <a:rPr lang="en-US" altLang="zh-C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Sabre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) (5)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Gallantlion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 Resources (Yield Royal Investment) (4.98)</a:t>
                      </a:r>
                    </a:p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锐智资本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&amp;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Sage Sunshine (5)</a:t>
                      </a:r>
                    </a:p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11%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274949"/>
                  </a:ext>
                </a:extLst>
              </a:tr>
            </a:tbl>
          </a:graphicData>
        </a:graphic>
      </p:graphicFrame>
      <p:pic>
        <p:nvPicPr>
          <p:cNvPr id="7" name="图片 17">
            <a:extLst>
              <a:ext uri="{FF2B5EF4-FFF2-40B4-BE49-F238E27FC236}">
                <a16:creationId xmlns:a16="http://schemas.microsoft.com/office/drawing/2014/main" id="{16447B10-D2C3-4FBB-9A74-FB9D2CFD8C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93961" y="2930458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7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5" y="434979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25142" y="8546203"/>
            <a:ext cx="15233375" cy="32563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32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77970"/>
              </p:ext>
            </p:extLst>
          </p:nvPr>
        </p:nvGraphicFramePr>
        <p:xfrm>
          <a:off x="698724" y="1154429"/>
          <a:ext cx="14874179" cy="6914325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495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9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05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2025-12-22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2661.HK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轻松健康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综合健康服务及健康保险服务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77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14.1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18%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澳琴合鸣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14.1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100%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559137"/>
                  </a:ext>
                </a:extLst>
              </a:tr>
              <a:tr h="1047411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2025-12-19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3378.HK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翰思艾泰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-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肿瘤药物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75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12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16%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富德生命人寿保险（富德资源）（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5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锐智资本（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Sage Partners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1.5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鲲洋上海（通过国泰君安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TRS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1.41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天风国际资管（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TFI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基金）（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1.28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薜守光先生（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Main Source Capital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1.28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Ystem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 Capital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春雷资本（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0.51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0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47974"/>
                  </a:ext>
                </a:extLst>
              </a:tr>
              <a:tr h="848205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2025-12-18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2581.HK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明基医院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医疗服务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80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39.9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50%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禾荣科技合富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中国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)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（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30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endParaRPr lang="en-US" altLang="zh-CN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合富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中国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)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（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7.92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endParaRPr lang="en-US" altLang="zh-CN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苏州战兴投（</a:t>
                      </a: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1.98</a:t>
                      </a:r>
                      <a:r>
                        <a:rPr lang="zh-CN" alt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endParaRPr lang="en-US" altLang="zh-TW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95%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470069"/>
                  </a:ext>
                </a:extLst>
              </a:tr>
              <a:tr h="1473501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3881.HK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希迪智驾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智能驾驶商用车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71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39%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ea"/>
                        </a:rPr>
                        <a:t>湘江智骋 </a:t>
                      </a: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ea"/>
                        </a:rPr>
                        <a:t>(55)</a:t>
                      </a: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ea"/>
                        </a:rPr>
                        <a:t>智驾一号 </a:t>
                      </a: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ea"/>
                        </a:rPr>
                        <a:t>(10)</a:t>
                      </a: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ea"/>
                        </a:rPr>
                        <a:t>工银瑞信基金 </a:t>
                      </a: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ea"/>
                        </a:rPr>
                        <a:t>(3)</a:t>
                      </a: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ea"/>
                        </a:rPr>
                        <a:t>前海开源基金 </a:t>
                      </a: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ea"/>
                        </a:rPr>
                        <a:t>(2.6)</a:t>
                      </a:r>
                      <a:endParaRPr kumimoji="0" lang="en-US" altLang="zh-TW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0%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30288"/>
                  </a:ext>
                </a:extLst>
              </a:tr>
              <a:tr h="465539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2546.HK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智汇矿业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锌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71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29.16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41%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招金矿业（斯派柯）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(18.76)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大湾区基金（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GIGA Industries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(6.50)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大湾区基金（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Poly Platinum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(3.90)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64%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274949"/>
                  </a:ext>
                </a:extLst>
              </a:tr>
              <a:tr h="1556589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2655.HK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果下科技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储能系统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解决方案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101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9.7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9.6%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无锡惠山国有资产管理办公室（惠开）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(7.1)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雾凇资本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(1.3)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君宜（</a:t>
                      </a:r>
                      <a:r>
                        <a:rPr lang="en-US" altLang="zh-C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Dream’ee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 HK Fund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(1.3)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73%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46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46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5" y="434979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25142" y="8546203"/>
            <a:ext cx="15233375" cy="32563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32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941599"/>
              </p:ext>
            </p:extLst>
          </p:nvPr>
        </p:nvGraphicFramePr>
        <p:xfrm>
          <a:off x="698724" y="1215025"/>
          <a:ext cx="14874179" cy="7114780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07322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7987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3887.HK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HASHKEY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数字资产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经济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206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75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36%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Long </a:t>
                      </a: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Zhifeng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Space Z PTE. LTD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(5)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Chen Ting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Shining Light Grace Limited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UBS GAM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富达基金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(5)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CDH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信庭基金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(15)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Infini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至源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Yang Bin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先生（利通）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13%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30288"/>
                  </a:ext>
                </a:extLst>
              </a:tr>
              <a:tr h="42904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2659.HK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宝济药业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-B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生物制药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安科生物</a:t>
                      </a: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(14.5)</a:t>
                      </a: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衍盛中国（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DC Alpha SPC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(6.5)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国泰君安证券投资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(5.0)</a:t>
                      </a:r>
                      <a:endParaRPr lang="en-US" altLang="zh-TW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56%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274949"/>
                  </a:ext>
                </a:extLst>
              </a:tr>
              <a:tr h="1434559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7618.HK</a:t>
                      </a:r>
                      <a:endParaRPr lang="en-US" altLang="zh-C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京东工业</a:t>
                      </a:r>
                      <a:endParaRPr lang="zh-CN" altLang="en-US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工业供应链技术与服务提供商</a:t>
                      </a:r>
                      <a:endParaRPr lang="zh-CN" altLang="en-US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387 </a:t>
                      </a:r>
                      <a:endParaRPr lang="en-US" altLang="zh-C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M&amp;G (85)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Investment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晨曦投资管理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(15) 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刚睿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Burkehill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(5)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0%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46937"/>
                  </a:ext>
                </a:extLst>
              </a:tr>
              <a:tr h="825787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2676.HK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纳芯微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模拟集成</a:t>
                      </a: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电路 </a:t>
                      </a:r>
                      <a:endParaRPr lang="en-US" altLang="zh-CN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139.88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比亚迪（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Link</a:t>
                      </a:r>
                      <a:r>
                        <a:rPr lang="zh-TW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(9.88)</a:t>
                      </a:r>
                      <a:endParaRPr lang="zh-TW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三花智控（好得易）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小米集团（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zh-TW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zh-TW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苏州元禾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(90)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 Asset Management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君宜（</a:t>
                      </a:r>
                      <a:r>
                        <a:rPr lang="en-US" altLang="zh-TW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Dream‘eeHK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18%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743505"/>
                  </a:ext>
                </a:extLst>
              </a:tr>
              <a:tr h="42904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kumimoji="0" 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2658.HK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天域半导体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功率半导体器件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224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20.8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9.3%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广东原始森林（通过广发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TRS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(16.9)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Glory Ocean (3.85)</a:t>
                      </a:r>
                      <a:endParaRPr lang="en-US" altLang="zh-TW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0%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527044"/>
                  </a:ext>
                </a:extLst>
              </a:tr>
              <a:tr h="105101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2025-12-3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2408.HK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遇见小面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餐饮服务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88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22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25%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海底捞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(2)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高瓴资本（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HHLRA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(5)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国泰君安证券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(2.6)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君宜香港基金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(2.4)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Shengying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Investment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思达资本（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Zeta Fund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(5)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9%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309950"/>
                  </a:ext>
                </a:extLst>
              </a:tr>
              <a:tr h="621968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2025-12-2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2693.HK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金岩高岭新材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高岭土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9.9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43%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河南省国资委（平煤神马集团）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(3.9)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创立集团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(3.2)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淮北金源工贸（金源香港）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(1.4)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安徽德高矿山科技（德高巍山）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(1.4)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39%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45081"/>
                  </a:ext>
                </a:extLst>
              </a:tr>
              <a:tr h="343416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Kaiti" panose="02010609060101010101" pitchFamily="49" charset="-122"/>
                          <a:cs typeface="+mn-ea"/>
                        </a:rPr>
                        <a:t>2025-11-25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9609.HK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海伟股份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电容器薄膜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65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28.4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44%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汇兴丽海</a:t>
                      </a: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(28.4)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0%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930882"/>
                  </a:ext>
                </a:extLst>
              </a:tr>
            </a:tbl>
          </a:graphicData>
        </a:graphic>
      </p:graphicFrame>
      <p:pic>
        <p:nvPicPr>
          <p:cNvPr id="7" name="图片 17">
            <a:extLst>
              <a:ext uri="{FF2B5EF4-FFF2-40B4-BE49-F238E27FC236}">
                <a16:creationId xmlns:a16="http://schemas.microsoft.com/office/drawing/2014/main" id="{EF58A2F9-44B4-43DF-971F-77C86273C4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93961" y="5930512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00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5" y="434979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87404" y="8709021"/>
            <a:ext cx="15233375" cy="32563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32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020985"/>
              </p:ext>
            </p:extLst>
          </p:nvPr>
        </p:nvGraphicFramePr>
        <p:xfrm>
          <a:off x="794417" y="1082227"/>
          <a:ext cx="14874179" cy="7594600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1381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1284"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2025-11-20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2788.HK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创新实业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电解铝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706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351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50%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中国宏桥集团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Glencore AG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Mercuria Holdings (30)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高瓴（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HHLRA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(100)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泰康人寿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景林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(15)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Orix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欧力士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(15)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Investcorp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(15)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太保资管香港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广发基金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富国基金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Millennium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Jane Street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柏骏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Polymer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宝达投资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Brilliance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Cephei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Capital (6)</a:t>
                      </a: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26%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161627"/>
                  </a:ext>
                </a:extLst>
              </a:tr>
              <a:tr h="46315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2025-11-13</a:t>
                      </a:r>
                      <a:endParaRPr lang="en-US" altLang="zh-CN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2579.HK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中伟新材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新能源材料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213.5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47%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贵州省国资委（贵州新型工业化基金）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(97.8)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湖南省国资委（湖南兴湘集团）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中创新航科技集团 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(19.8)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东圣先行科技 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蓝思香港 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欣旺达电子 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(7)</a:t>
                      </a:r>
                      <a:endParaRPr lang="en-US" altLang="zh-TW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厦门国贸集团（宝达投资）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(27.9)</a:t>
                      </a: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North Rock</a:t>
                      </a: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基金 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上海高毅 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(11)</a:t>
                      </a:r>
                      <a:endParaRPr lang="zh-CN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75%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590930"/>
                  </a:ext>
                </a:extLst>
              </a:tr>
              <a:tr h="17150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2025/11/6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2698.HK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乐舒适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卫生用品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307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139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45%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Arc Avenue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黑蚁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(20)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红杉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(10)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Arcane Nexus</a:t>
                      </a:r>
                      <a:r>
                        <a:rPr kumimoji="0" lang="zh-TW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（</a:t>
                      </a: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博裕）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(10)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北京顺澳（</a:t>
                      </a:r>
                      <a:r>
                        <a:rPr kumimoji="0" lang="en-US" altLang="zh-TW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MSPE</a:t>
                      </a:r>
                      <a:r>
                        <a:rPr kumimoji="0" lang="zh-TW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）</a:t>
                      </a:r>
                      <a:r>
                        <a:rPr kumimoji="0" lang="en-US" altLang="zh-TW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(10)</a:t>
                      </a:r>
                      <a:endParaRPr kumimoji="0" lang="zh-TW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鼎晖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 (10)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增途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(10)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易方达基金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(8)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富国基金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(8)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南方基金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(8)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华夏基金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(5)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启汇润金（中金资本）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(5)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弘章 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(5)</a:t>
                      </a:r>
                      <a:endParaRPr kumimoji="0" lang="zh-CN" altLang="en-US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Jane Street (5)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TruMed</a:t>
                      </a:r>
                      <a:r>
                        <a:rPr kumimoji="0" lang="en-US" altLang="zh-TW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 (5)</a:t>
                      </a:r>
                      <a:endParaRPr kumimoji="0" lang="en-US" altLang="zh-CN" sz="9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0%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56898"/>
                  </a:ext>
                </a:extLst>
              </a:tr>
              <a:tr h="5769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2025/11/4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699.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HK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均胜电子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智能汽车科技解决方案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439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107.1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24%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北京金融控股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(42.1)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宁波高新区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钟鼎资本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建设银行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复星国际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58%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688841"/>
                  </a:ext>
                </a:extLst>
              </a:tr>
              <a:tr h="16039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2025/11/3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9927.HK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赛力斯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新能源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乘用车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1,838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826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44%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重庆国资委（渝富控股）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(280)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三花智控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中升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正凯集团（ </a:t>
                      </a: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Zhink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International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江苏海晨股份（</a:t>
                      </a: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Hichain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Logistics HK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(26)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邬建树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宁波托普（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Skyler International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星宇香港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中国美东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林园基金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(50)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广发基金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(36.3)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新华资产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Bess Broadway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Gold Wings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达安投资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施罗德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(24)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未来资产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云锋基金（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New Alternative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中邮理财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Ghisallo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Fund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Jump Trading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Jain Global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守正基金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China Alpha Fund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55%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022227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B13BB877-94BA-4CB7-AAB5-68ACAB9321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493837" y="6303415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2454075C-7AE2-47B7-A6F0-ED075DEF90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493837" y="4818756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5" y="434979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25142" y="8546203"/>
            <a:ext cx="15233375" cy="32563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32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443649"/>
              </p:ext>
            </p:extLst>
          </p:nvPr>
        </p:nvGraphicFramePr>
        <p:xfrm>
          <a:off x="698504" y="1050333"/>
          <a:ext cx="14874179" cy="7495870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5397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1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2025/11/3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2026.HK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小马智行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-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自动驾驶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863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120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14%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Prudential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（</a:t>
                      </a: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Eastspring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Ghisallo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Athos (25)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Hel </a:t>
                      </a: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Ved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Ocean Arete (10)</a:t>
                      </a: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0%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491060"/>
                  </a:ext>
                </a:extLst>
              </a:tr>
              <a:tr h="68155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2025/10/30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</a:rPr>
                        <a:t>2718.HK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</a:rPr>
                        <a:t>明略科技</a:t>
                      </a: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</a:rPr>
                        <a:t>-</a:t>
                      </a:r>
                      <a:r>
                        <a:rPr kumimoji="0" 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</a:rPr>
                        <a:t>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</a:rPr>
                        <a:t>数据智能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</a:rPr>
                        <a:t>应用软件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</a:rPr>
                        <a:t>131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</a:rPr>
                        <a:t>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45%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Hundreds Capital 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腾讯（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Huang River Investment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晶泰（</a:t>
                      </a: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QuantumPharm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(5)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郭敏芳女士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Treasure-stone Investment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包莉娜女士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GFH Financial Group B.S.C. (5)</a:t>
                      </a: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29%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277964"/>
                  </a:ext>
                </a:extLst>
              </a:tr>
              <a:tr h="309028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2025/10/24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6031.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HK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三一重工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工程机械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1,731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759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44%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山东重工集团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（潍柴动力香港）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法士特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(75)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盈峰资本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高瓴资本（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</a:t>
                      </a: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LRA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(50)</a:t>
                      </a:r>
                      <a:endParaRPr lang="en-US" altLang="zh-TW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GAM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LMR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(44.09)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RBC GAM (40)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Asset Management (40)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睿远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上海高毅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香港景林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Jane Street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FengHe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QRT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大家保险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惠理基金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 Asset Management (6)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5%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684660"/>
                  </a:ext>
                </a:extLst>
              </a:tr>
              <a:tr h="247793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2025/10/24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6166.HK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剑桥科技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人工智能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594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ea"/>
                        </a:rPr>
                        <a:t>290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49%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HK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霸菱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摩根士丹利（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MSIP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红杉（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HCEP Master Fund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(20)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IDG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Arc Avenue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奇点资产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Weiss Asset Management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信庭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Cithara Fund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3W Fund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Schonfeld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Infini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Alpine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Dymon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 Asia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Aqua Ocean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（博裕）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天壹资本（</a:t>
                      </a:r>
                      <a:r>
                        <a:rPr lang="en-US" altLang="zh-C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Martis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 Fund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泰康人寿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工银理财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(10)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0%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3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879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3" y="434978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11312" y="8709022"/>
            <a:ext cx="15233375" cy="32563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54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009500"/>
              </p:ext>
            </p:extLst>
          </p:nvPr>
        </p:nvGraphicFramePr>
        <p:xfrm>
          <a:off x="698503" y="1050331"/>
          <a:ext cx="14874179" cy="7575809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26747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24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2025/10/20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0638.HK</a:t>
                      </a:r>
                    </a:p>
                  </a:txBody>
                  <a:tcPr marL="121920" marR="31751" marT="31751" marB="317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广和通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无线通信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378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163.8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43%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HK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勤道赣通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(71.2)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中国太保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广发基金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瑞华投资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(13)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智度投资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张晓雷先生（安捷资产管理公司董事）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(15)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国泰君安证券投资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(8.5)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君怡香港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(5.2)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0%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67492"/>
                  </a:ext>
                </a:extLst>
              </a:tr>
              <a:tr h="15326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2025/10/20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6687.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920" marR="31751" marT="31751" marB="317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聚水潭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电商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SaaS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269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130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48%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GRANITE ASIA</a:t>
                      </a:r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(10)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HK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Blue Lake Capital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汇添富基金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Dymon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Asia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DAMSIMF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Fourier Capital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香港景林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Gaocheng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Fund (GTCS Holdings)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红杉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Jain Global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Perseverance Asset Management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Stoneylake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 Global Alpha Fund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WT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资产管理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(10)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3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W Fund (10)</a:t>
                      </a: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7.7%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84360"/>
                  </a:ext>
                </a:extLst>
              </a:tr>
              <a:tr h="2665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2025/10/15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2637.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920" marR="31751" marT="31751" marB="317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海西新药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医药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17%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HK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嘉实国际（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Harvest Oriental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</a:rPr>
                        <a:t>）</a:t>
                      </a:r>
                      <a:r>
                        <a:rPr kumimoji="0" lang="en-US" altLang="zh-TW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(22)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0%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878030"/>
                  </a:ext>
                </a:extLst>
              </a:tr>
              <a:tr h="2665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2025/10/14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2575.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920" marR="31751" marT="31751" marB="317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轩竹生物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医药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10%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HK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德诺瑞朗十五期</a:t>
                      </a:r>
                      <a:r>
                        <a:rPr kumimoji="0" lang="zh-CN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 </a:t>
                      </a:r>
                      <a:r>
                        <a:rPr kumimoji="0" lang="en-US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(9.9)</a:t>
                      </a:r>
                      <a:endParaRPr kumimoji="0" lang="en-US" altLang="zh-TW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0%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93331"/>
                  </a:ext>
                </a:extLst>
              </a:tr>
              <a:tr h="2665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2025/9/29</a:t>
                      </a:r>
                    </a:p>
                  </a:txBody>
                  <a:tcPr marL="121920" marR="84667" marT="42332" marB="423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2889.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920" marR="31751" marT="31751" marB="317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博泰车联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汽车智能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座舱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137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43%</a:t>
                      </a:r>
                    </a:p>
                  </a:txBody>
                  <a:tcPr marL="3632" marR="3632" marT="36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地平线机器人（</a:t>
                      </a:r>
                      <a:r>
                        <a:rPr lang="en-US" altLang="zh-HK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Horizon Together</a:t>
                      </a:r>
                      <a:r>
                        <a:rPr lang="zh-HK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HK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(28)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北京金融控股集团（</a:t>
                      </a:r>
                      <a:r>
                        <a:rPr lang="en-US" altLang="zh-HK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Huangshan SP</a:t>
                      </a:r>
                      <a:r>
                        <a:rPr lang="zh-HK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HK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(27)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Smart Ventures (5)</a:t>
                      </a:r>
                      <a:endParaRPr lang="zh-HK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47%</a:t>
                      </a:r>
                    </a:p>
                  </a:txBody>
                  <a:tcPr marL="12700" marR="12700" marT="55419" marB="5541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000947"/>
                  </a:ext>
                </a:extLst>
              </a:tr>
              <a:tr h="31774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2025/9/26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2259.HK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紫金黄金国际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黄金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3,211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1,600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49%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招金矿业（斯派柯）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新加坡政府投资公司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GIC (150)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高瓴（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HHLRA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(150)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贝莱德集团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(120)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施罗德集团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(120)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高毅资产（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Perseverance Asset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(100)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富达基金（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Fidelity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(80)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景林资产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(80)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柏基投资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Baillie Gifford 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中国太保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(60)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泰康人寿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(60)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汇添富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(50)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UBS GAM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广发国际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(50)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Dao Yi Capital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云锋投资（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New Golden Future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(50)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加皇环球资产管理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(50)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景顺资本（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IHKL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(40)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CPE (40)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橡树资本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未来资产金融集团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富国基金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大湾区共同家园投资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Millennium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SMG Management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（高亚）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IDG and Arc (30)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1.9%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547331"/>
                  </a:ext>
                </a:extLst>
              </a:tr>
            </a:tbl>
          </a:graphicData>
        </a:graphic>
      </p:graphicFrame>
      <p:pic>
        <p:nvPicPr>
          <p:cNvPr id="7" name="图片 17">
            <a:extLst>
              <a:ext uri="{FF2B5EF4-FFF2-40B4-BE49-F238E27FC236}">
                <a16:creationId xmlns:a16="http://schemas.microsoft.com/office/drawing/2014/main" id="{A026E94E-C8D4-4FAA-AF11-040998DC56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80531" y="6710962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1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3" y="434978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25140" y="8546203"/>
            <a:ext cx="15233375" cy="32563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54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DBC4E267-D61B-4AAE-9915-A106F918FF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65346" y="1778000"/>
            <a:ext cx="317972" cy="286620"/>
          </a:xfrm>
          <a:prstGeom prst="rect">
            <a:avLst/>
          </a:prstGeom>
        </p:spPr>
      </p:pic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3641"/>
              </p:ext>
            </p:extLst>
          </p:nvPr>
        </p:nvGraphicFramePr>
        <p:xfrm>
          <a:off x="698503" y="1050332"/>
          <a:ext cx="14874179" cy="7413186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53541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36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2025/9/23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9973.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奇瑞汽车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汽车制造商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1,176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587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50%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诚通基金（璟泉善瑞）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(190)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黄山国资委（黄山建投）</a:t>
                      </a: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(41)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合肥晶汇瑞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(41)</a:t>
                      </a: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合肥国资委（合肥建投）</a:t>
                      </a: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(20)</a:t>
                      </a:r>
                      <a:endParaRPr kumimoji="0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地平线机器人（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Horizon Together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(40)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国轩香港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(29)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星宇车灯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(20)</a:t>
                      </a:r>
                      <a:endParaRPr lang="zh-HK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高瓴（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HHLR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(60)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上海景林及香港景林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大家资产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(33)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天壹资本（</a:t>
                      </a:r>
                      <a:r>
                        <a:rPr lang="en-US" altLang="zh-CN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Martis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 Fund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）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(33)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中邮理财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Kaiti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Kaiti" panose="02010609060101010101" pitchFamily="49" charset="-122"/>
                          <a:cs typeface="+mn-ea"/>
                        </a:rPr>
                        <a:t>65%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990318"/>
                  </a:ext>
                </a:extLst>
              </a:tr>
              <a:tr h="6141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2025/9/19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6090.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不同集团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育儿产品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15%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zh-HK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信庭基金 </a:t>
                      </a: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上海通怡及华泰资本投资（通怡场外掉期）</a:t>
                      </a: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Great Praise Investment (5)</a:t>
                      </a:r>
                      <a:endParaRPr lang="zh-HK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874457"/>
                  </a:ext>
                </a:extLst>
              </a:tr>
              <a:tr h="138186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2025/9/18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2595.HK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劲方医药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生物制药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233</a:t>
                      </a:r>
                      <a:endParaRPr lang="en-US" altLang="zh-CN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43%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900" b="1" dirty="0">
                        <a:solidFill>
                          <a:srgbClr val="FF0000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RTW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基金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TruMed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(12.5)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OrbiMed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(12.5)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UBS GAM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Vivo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基金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汇添富基金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 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富国基金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中信证券国际（西藏源乐掉期）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清池资本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664209"/>
                  </a:ext>
                </a:extLst>
              </a:tr>
              <a:tr h="6141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2025/9/12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2525.HK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禾赛集团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三维激光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雷达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615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24%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dirty="0"/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上海联创投资合伙人戴子烽先生（宏达集团）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Grab Inc. 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</a:t>
                      </a:r>
                      <a:endParaRPr lang="en-US" altLang="zh-CN" sz="9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高瓴资本（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HHLR Advisors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王通书先生（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WT Asset Management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泰康人寿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康曼德资本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998342"/>
                  </a:ext>
                </a:extLst>
              </a:tr>
              <a:tr h="4606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2025/9/8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2543.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大行科工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自行车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12.8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26%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维科控股（维科香港）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(2.6)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安联环球投资亚太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嘉实基金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(2.8)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大湾区基金管理（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Mega Prime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(2.4)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05495"/>
                  </a:ext>
                </a:extLst>
              </a:tr>
              <a:tr h="6141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2025/8/29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2580.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奥克斯电气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家用电器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532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124.3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23%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湖南钢铁集团（华菱香港）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(26.5)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中国邮政集团（中邮保险）</a:t>
                      </a:r>
                      <a:r>
                        <a:rPr kumimoji="0" lang="en-US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中国邮政集团（中邮理财）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源乐晟（中金掉期）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深圳永信（国泰海通掉期）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(12.8)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29029"/>
                  </a:ext>
                </a:extLst>
              </a:tr>
              <a:tr h="6141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2025/8/25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3858.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佳鑫国际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钨矿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177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77.6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44%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鲁银（</a:t>
                      </a:r>
                      <a:r>
                        <a:rPr lang="zh-TW" altLang="en-US" sz="900" dirty="0"/>
                        <a:t>山东招金集团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(13)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信达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(39)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广发基金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富国基金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(6.5)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HK" altLang="zh-CN" sz="9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Su</a:t>
                      </a:r>
                      <a:r>
                        <a:rPr kumimoji="0" lang="en-HK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HK" altLang="zh-CN" sz="9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Ruitong</a:t>
                      </a: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先生（</a:t>
                      </a:r>
                      <a:r>
                        <a:rPr kumimoji="0" lang="en-HK" altLang="zh-CN" sz="9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投资）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(4.1)</a:t>
                      </a: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661739"/>
                  </a:ext>
                </a:extLst>
              </a:tr>
              <a:tr h="24659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2025/8/25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6960.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双登股份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电池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109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30.8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28%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泰州国资委（三水创投）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(30.8)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923873"/>
                  </a:ext>
                </a:extLst>
              </a:tr>
              <a:tr h="6141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2025/8/17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2631.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天岳先进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半导体材料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261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94.9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36%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9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中济南能源集团（国能环保）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(50)</a:t>
                      </a: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和而泰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(10.4)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山金资产 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(13)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兰坤先生（深圳君宜私募创始人、执行董事）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(6.5)</a:t>
                      </a: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53%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761604"/>
                  </a:ext>
                </a:extLst>
              </a:tr>
              <a:tr h="24659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2025/8/8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2627.HK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中慧元通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生物制药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56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13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23%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TW" altLang="en-US" sz="900" dirty="0"/>
                        <a:t>嘉兴鑫扬及华泰资本投资 </a:t>
                      </a:r>
                      <a:r>
                        <a:rPr lang="en-US" altLang="zh-TW" sz="900" dirty="0"/>
                        <a:t>(13)</a:t>
                      </a: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14983"/>
                  </a:ext>
                </a:extLst>
              </a:tr>
              <a:tr h="76770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2025/8/7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2591.HK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银诺医药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生物制药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87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10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11%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/>
                        <a:t>迈富时管理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(1)</a:t>
                      </a:r>
                      <a:endParaRPr lang="en-US" altLang="zh-CN" sz="9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LI </a:t>
                      </a:r>
                      <a:r>
                        <a:rPr lang="en-US" altLang="zh-CN" sz="900" dirty="0" err="1"/>
                        <a:t>Guozhen</a:t>
                      </a:r>
                      <a:r>
                        <a:rPr lang="zh-CN" altLang="en-US" sz="900" dirty="0"/>
                        <a:t>（骏升）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Ginkgo Fund 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/>
                        <a:t>邓海峰（</a:t>
                      </a:r>
                      <a:r>
                        <a:rPr lang="zh-TW" altLang="en-US" sz="900" dirty="0"/>
                        <a:t>华新资本（香港）合伙人及首席投资官</a:t>
                      </a:r>
                      <a:r>
                        <a:rPr lang="zh-CN" altLang="en-US" sz="900" dirty="0"/>
                        <a:t>）</a:t>
                      </a:r>
                      <a:r>
                        <a:rPr lang="en-US" altLang="zh-CN" sz="900" dirty="0"/>
                        <a:t>(1)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/>
                        <a:t>黎慧凤（</a:t>
                      </a:r>
                      <a:r>
                        <a:rPr lang="zh-TW" altLang="en-US" sz="900" dirty="0"/>
                        <a:t>香港景创国际董事总经理</a:t>
                      </a:r>
                      <a:r>
                        <a:rPr lang="zh-CN" altLang="en-US" sz="900" dirty="0"/>
                        <a:t>）</a:t>
                      </a:r>
                      <a:r>
                        <a:rPr lang="en-US" altLang="zh-CN" sz="900" dirty="0"/>
                        <a:t>(1)</a:t>
                      </a:r>
                      <a:endParaRPr kumimoji="0" lang="en-US" altLang="zh-CN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01430"/>
                  </a:ext>
                </a:extLst>
              </a:tr>
            </a:tbl>
          </a:graphicData>
        </a:graphic>
      </p:graphicFrame>
      <p:pic>
        <p:nvPicPr>
          <p:cNvPr id="8" name="图片 17">
            <a:extLst>
              <a:ext uri="{FF2B5EF4-FFF2-40B4-BE49-F238E27FC236}">
                <a16:creationId xmlns:a16="http://schemas.microsoft.com/office/drawing/2014/main" id="{18E0C28B-6714-421F-8BDA-431788550A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80531" y="3443259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BE49D088-2883-45DC-B1B1-1E529F7166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65346" y="7004949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4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3" y="434978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25140" y="8546203"/>
            <a:ext cx="15233375" cy="32563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54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DBC4E267-D61B-4AAE-9915-A106F918FF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66154" y="7238404"/>
            <a:ext cx="317972" cy="286620"/>
          </a:xfrm>
          <a:prstGeom prst="rect">
            <a:avLst/>
          </a:prstGeom>
        </p:spPr>
      </p:pic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365291"/>
              </p:ext>
            </p:extLst>
          </p:nvPr>
        </p:nvGraphicFramePr>
        <p:xfrm>
          <a:off x="698503" y="1050333"/>
          <a:ext cx="14874179" cy="7413182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6346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9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2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2025/7/23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9887.HK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维立志博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生物制药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189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69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37%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41564" marB="415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正心谷资本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(13)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高毅投资 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真脉投资 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kumimoji="0" lang="en-US" altLang="zh-TW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(10)</a:t>
                      </a: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腾讯（黄河资本）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易方达基金 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(7)</a:t>
                      </a: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睿远基金 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TW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Sage Partners Master Fund (4)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汉康实体 </a:t>
                      </a:r>
                      <a:r>
                        <a:rPr kumimoji="0" lang="en-US" altLang="zh-CN" sz="9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  <a:endParaRPr kumimoji="0" lang="zh-CN" altLang="en-US" sz="9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92881"/>
                  </a:ext>
                </a:extLst>
              </a:tr>
              <a:tr h="130775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2025/7/7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6613.HK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蓝思科技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消费电子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620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191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zh-CN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</a:rPr>
                        <a:t>31%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世运电路</a:t>
                      </a:r>
                      <a:r>
                        <a:rPr lang="en-HK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(10)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小米集团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Green Better)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</a:t>
                      </a:r>
                      <a:r>
                        <a:rPr lang="en-HK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(10)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UBS AM </a:t>
                      </a:r>
                      <a:r>
                        <a:rPr lang="en-HK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(50)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LMR (30</a:t>
                      </a:r>
                      <a:r>
                        <a:rPr lang="en-HK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Oaktree (25</a:t>
                      </a:r>
                      <a:r>
                        <a:rPr lang="en-HK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QRT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大湾区基金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Poly Platinum) </a:t>
                      </a:r>
                      <a:r>
                        <a:rPr lang="en-HK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无极资本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Infini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)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Verition</a:t>
                      </a:r>
                      <a:r>
                        <a:rPr lang="en-HK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金涌投资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Redwood) (6)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973469"/>
                  </a:ext>
                </a:extLst>
              </a:tr>
              <a:tr h="38375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2025/7/7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2597.HK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讯众通信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电讯服务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54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北京国资委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通州国际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 (17)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HK" altLang="zh-CN" sz="900" b="0" i="0" u="none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699133"/>
                  </a:ext>
                </a:extLst>
              </a:tr>
              <a:tr h="14712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2025/7/7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1304.HK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峰岹科技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半导体产品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294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三花智控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三花国际新加坡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) (8)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泰康人寿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</a:t>
                      </a:r>
                      <a:r>
                        <a:rPr lang="en-HK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(25)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保银 </a:t>
                      </a:r>
                      <a:r>
                        <a:rPr lang="en-HK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3W Fund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观博资本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Wind Sabre)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华夏基金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香港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)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大湾区共同家园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Mega Prime)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Fourier Capital (8)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QRT (Torus) (8)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Intac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(8)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11067"/>
                  </a:ext>
                </a:extLst>
              </a:tr>
              <a:tr h="9808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2025/7/2</a:t>
                      </a:r>
                    </a:p>
                  </a:txBody>
                  <a:tcPr marL="162560" marR="50800" marT="84667" marB="846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2648.HK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安井食品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速冻食品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312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上海景林及华泰资本投资 </a:t>
                      </a:r>
                      <a:r>
                        <a:rPr lang="en-HK" altLang="zh-TW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香港景林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Hosen Capital (20)</a:t>
                      </a:r>
                      <a:endParaRPr lang="en-HK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QRT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FCP Domains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NonaVerse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(10)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870792"/>
                  </a:ext>
                </a:extLst>
              </a:tr>
              <a:tr h="3652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2025/6/30</a:t>
                      </a:r>
                    </a:p>
                  </a:txBody>
                  <a:tcPr marL="162560" marR="50800" marT="84667" marB="846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2590.HK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极智嘉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仓储自动化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353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91.3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26%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雄安机器人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(41.3)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纵腾集团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亿格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)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</a:t>
                      </a:r>
                      <a:r>
                        <a:rPr lang="en-HK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(10)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IDG (Arc Avenue)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</a:t>
                      </a:r>
                      <a:r>
                        <a:rPr lang="en-HK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(25)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保诚 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Eastspring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Investments) (15)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56%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080495"/>
                  </a:ext>
                </a:extLst>
              </a:tr>
              <a:tr h="3652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2025/6/26</a:t>
                      </a:r>
                    </a:p>
                  </a:txBody>
                  <a:tcPr marL="162560" marR="50800" marT="84667" marB="846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1828.HK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富卫集团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人寿保险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451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250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55%</a:t>
                      </a: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2724" marR="2724" marT="272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T&amp;D Holdings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(100)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阿布扎比投资公司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Mubadala (150)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40%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517908"/>
                  </a:ext>
                </a:extLst>
              </a:tr>
              <a:tr h="23914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2025/6/26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3880.HK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泰德医药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生物制药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67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石药集团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佳曦控股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) 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微光创投</a:t>
                      </a:r>
                      <a:r>
                        <a:rPr lang="en-HK" sz="900" b="0" i="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Welight</a:t>
                      </a:r>
                      <a:r>
                        <a:rPr lang="en-HK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Capital (5)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50%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144867"/>
                  </a:ext>
                </a:extLst>
              </a:tr>
              <a:tr h="3382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2025/6/26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9678.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云知声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先进硬件及软件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42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商汤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HK" sz="900" b="0" i="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SensePower</a:t>
                      </a:r>
                      <a:r>
                        <a:rPr lang="en-HK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) (5.7)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润健股份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(2.4)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dirty="0">
                          <a:latin typeface="+mj-lt"/>
                          <a:ea typeface="+mj-ea"/>
                        </a:rPr>
                        <a:t>CHENG NGA YIN 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臻一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(3.9)</a:t>
                      </a:r>
                      <a:endParaRPr lang="en-HK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68%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01430"/>
                  </a:ext>
                </a:extLst>
              </a:tr>
            </a:tbl>
          </a:graphicData>
        </a:graphic>
      </p:graphicFrame>
      <p:pic>
        <p:nvPicPr>
          <p:cNvPr id="7" name="图片 17">
            <a:extLst>
              <a:ext uri="{FF2B5EF4-FFF2-40B4-BE49-F238E27FC236}">
                <a16:creationId xmlns:a16="http://schemas.microsoft.com/office/drawing/2014/main" id="{E90967BB-A6ED-44F2-BC9B-623A69BC33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66154" y="6514817"/>
            <a:ext cx="317972" cy="286620"/>
          </a:xfrm>
          <a:prstGeom prst="rect">
            <a:avLst/>
          </a:prstGeom>
        </p:spPr>
      </p:pic>
      <p:pic>
        <p:nvPicPr>
          <p:cNvPr id="10" name="图片 17">
            <a:extLst>
              <a:ext uri="{FF2B5EF4-FFF2-40B4-BE49-F238E27FC236}">
                <a16:creationId xmlns:a16="http://schemas.microsoft.com/office/drawing/2014/main" id="{B24AEB66-E53D-4BF8-8DDD-B3E2E77A22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80531" y="5350328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18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3" y="434978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11312" y="8655429"/>
            <a:ext cx="15233375" cy="32563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54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522984"/>
              </p:ext>
            </p:extLst>
          </p:nvPr>
        </p:nvGraphicFramePr>
        <p:xfrm>
          <a:off x="698503" y="1050331"/>
          <a:ext cx="14874179" cy="7562139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2814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ea"/>
                          <a:sym typeface="+mn-lt"/>
                        </a:rPr>
                        <a:t>2025/6/26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6603.HK</a:t>
                      </a:r>
                    </a:p>
                  </a:txBody>
                  <a:tcPr marR="23876" marT="23876" marB="2387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IFBH</a:t>
                      </a:r>
                      <a:endParaRPr lang="en-US" sz="900" b="0" i="0" u="none" strike="noStrike" dirty="0">
                        <a:effectLst/>
                        <a:latin typeface="+mj-lt"/>
                        <a:ea typeface="+mj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饮料</a:t>
                      </a:r>
                      <a:endParaRPr lang="zh-CN" altLang="en-US" sz="900" b="0" i="0" u="none" strike="noStrike" dirty="0">
                        <a:effectLst/>
                        <a:latin typeface="+mj-lt"/>
                        <a:ea typeface="+mj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151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39.5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dirty="0">
                          <a:latin typeface="+mj-lt"/>
                          <a:ea typeface="+mj-ea"/>
                        </a:rPr>
                        <a:t>UBS Group AG (UBS AM Singapore)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dirty="0">
                          <a:latin typeface="+mj-lt"/>
                          <a:ea typeface="+mj-ea"/>
                        </a:rPr>
                        <a:t>Black Dragon (3.5)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CN" sz="900" dirty="0">
                          <a:latin typeface="+mj-lt"/>
                          <a:ea typeface="+mj-ea"/>
                        </a:rPr>
                        <a:t> </a:t>
                      </a:r>
                      <a:r>
                        <a:rPr lang="en-HK" sz="900" dirty="0">
                          <a:latin typeface="+mj-lt"/>
                          <a:ea typeface="+mj-ea"/>
                        </a:rPr>
                        <a:t>Arc Avenue Asset Management (3.5)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dirty="0">
                          <a:latin typeface="+mj-lt"/>
                          <a:ea typeface="+mj-ea"/>
                        </a:rPr>
                        <a:t>HCEP Management (3.5)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南方基金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广发国际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Harvest Oriental SP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工银理财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dirty="0">
                          <a:latin typeface="+mj-lt"/>
                          <a:ea typeface="+mj-ea"/>
                        </a:rPr>
                        <a:t>Jain Global Master Fund</a:t>
                      </a:r>
                      <a:r>
                        <a:rPr lang="en-HK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dirty="0">
                          <a:latin typeface="+mj-lt"/>
                          <a:ea typeface="+mj-ea"/>
                        </a:rPr>
                        <a:t>Jane Street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大湾区共同家园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en-HK" sz="9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cs"/>
                        </a:rPr>
                        <a:t>Mega Prime) (3)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008173"/>
                  </a:ext>
                </a:extLst>
              </a:tr>
              <a:tr h="4175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2025/6/24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2592.</a:t>
                      </a: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HK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</a:rPr>
                        <a:t>拨康视云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眼科药物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80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22.8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900" b="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龚虹嘉先生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富策控股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(20)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/>
                        <a:t>刘浩然先生 </a:t>
                      </a:r>
                      <a:r>
                        <a:rPr lang="en-HK" altLang="zh-CN" sz="900" dirty="0"/>
                        <a:t>(</a:t>
                      </a:r>
                      <a:r>
                        <a:rPr lang="en-HK" sz="900" dirty="0"/>
                        <a:t>Reynold </a:t>
                      </a:r>
                      <a:r>
                        <a:rPr lang="en-HK" sz="900" dirty="0" err="1"/>
                        <a:t>Lemkins</a:t>
                      </a:r>
                      <a:r>
                        <a:rPr lang="en-HK" sz="900" dirty="0"/>
                        <a:t>) (2.8)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372335"/>
                  </a:ext>
                </a:extLst>
              </a:tr>
              <a:tr h="4175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2025/6/23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2619.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香江电器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家用电器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湖北省蔪春县国有资产运营中心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顺捷投资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(4.8)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黄石市国资委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兴黄控股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(3.6)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云星科技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(1.2)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451673"/>
                  </a:ext>
                </a:extLst>
              </a:tr>
              <a:tr h="4175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2025/6/19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2609.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佰泽医疗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医疗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73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嘉实国际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(19)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697898"/>
                  </a:ext>
                </a:extLst>
              </a:tr>
              <a:tr h="20502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2025/6/19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2050.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三花智控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零部件制造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1,214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小米集团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Schroder Investment (142)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新加坡政府投资公司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(90)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景林资管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华泰国际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HK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Verition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Fund Management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钟鼎资本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未来资产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工银理财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中邮理财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泰康人寿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大湾区共同家园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观博资本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Eric Li (</a:t>
                      </a:r>
                      <a:r>
                        <a:rPr lang="en-HK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Martis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Fund)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HK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摩根士丹利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Jane Street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en-HK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吴微威先生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W Fund)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403879"/>
                  </a:ext>
                </a:extLst>
              </a:tr>
              <a:tr h="3844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2025/6/19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2617.HK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药捷安康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生物科技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14.6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康方生物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1.3)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药石科技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(1.2)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合肥科颖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科瓴安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(1.2)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南京地方国资基金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江北医药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(8.5)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华盛敦行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华盛锂电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(2.4)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94290"/>
                  </a:ext>
                </a:extLst>
              </a:tr>
              <a:tr h="512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2025/06/18</a:t>
                      </a:r>
                      <a:endPara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2508.HK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圣贝拉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保健护理</a:t>
                      </a:r>
                      <a:endParaRPr lang="en-HK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服务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94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HK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杭州萧山国资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JKKB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HK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</a:t>
                      </a:r>
                      <a:r>
                        <a:rPr lang="en-US" altLang="en-US" sz="900" b="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13.1)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汪牵擎女士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同城</a:t>
                      </a:r>
                      <a:r>
                        <a:rPr lang="en-HK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CFO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梁铭枢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GIMM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(6.4)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曾淇女士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SS Morgan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吴启楠先生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华夏基金（香港）有限公司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敏睿商务咨询有限公司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98838"/>
                  </a:ext>
                </a:extLst>
              </a:tr>
              <a:tr h="6407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2025/6/18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6168.HK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周六福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钟表珠宝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168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69.6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深圳罗湖区国资投资平台</a:t>
                      </a:r>
                      <a:r>
                        <a:rPr lang="en-HK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(24.2)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灵宝黄金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(3.9)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永诚资本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永诚贰号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HK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(14.3)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Jump Trading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凯因家族办公室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君宜深圳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(3.6)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广发基金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(2.6)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10083"/>
                  </a:ext>
                </a:extLst>
              </a:tr>
              <a:tr h="512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</a:t>
                      </a:r>
                      <a:r>
                        <a:rPr kumimoji="0" lang="en-HK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/6/17</a:t>
                      </a:r>
                      <a:endPara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2643.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曹操出行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出行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241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123.7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国轩高科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(21.3)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梅赛德斯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奔驰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亿纬亚洲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(13)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速腾聚创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RoboSense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HongKong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(5.1)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未来资产 </a:t>
                      </a:r>
                      <a:r>
                        <a:rPr lang="en-HK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(35.7)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无极资本 </a:t>
                      </a:r>
                      <a:r>
                        <a:rPr lang="en-HK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HK" altLang="zh-CN" sz="900" b="0" i="0" u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Infini</a:t>
                      </a:r>
                      <a:r>
                        <a:rPr lang="en-HK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Global Master Fund) (32.6)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HK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Jun Wang</a:t>
                      </a: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博士 </a:t>
                      </a:r>
                      <a:r>
                        <a:rPr lang="en-HK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HK" sz="900" dirty="0"/>
                        <a:t>ACCF Capital) (5)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01430"/>
                  </a:ext>
                </a:extLst>
              </a:tr>
            </a:tbl>
          </a:graphicData>
        </a:graphic>
      </p:graphicFrame>
      <p:pic>
        <p:nvPicPr>
          <p:cNvPr id="7" name="图片 17">
            <a:extLst>
              <a:ext uri="{FF2B5EF4-FFF2-40B4-BE49-F238E27FC236}">
                <a16:creationId xmlns:a16="http://schemas.microsoft.com/office/drawing/2014/main" id="{012C20E8-0D4B-49D2-9752-76EDB69B0C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80214" y="6933859"/>
            <a:ext cx="317972" cy="286620"/>
          </a:xfrm>
          <a:prstGeom prst="rect">
            <a:avLst/>
          </a:prstGeom>
        </p:spPr>
      </p:pic>
      <p:pic>
        <p:nvPicPr>
          <p:cNvPr id="8" name="图片 17">
            <a:extLst>
              <a:ext uri="{FF2B5EF4-FFF2-40B4-BE49-F238E27FC236}">
                <a16:creationId xmlns:a16="http://schemas.microsoft.com/office/drawing/2014/main" id="{4A470EE1-1C4D-4E8A-8BAB-56BD88509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80214" y="5124702"/>
            <a:ext cx="317972" cy="286620"/>
          </a:xfrm>
          <a:prstGeom prst="rect">
            <a:avLst/>
          </a:prstGeom>
        </p:spPr>
      </p:pic>
      <p:pic>
        <p:nvPicPr>
          <p:cNvPr id="11" name="图片 17">
            <a:extLst>
              <a:ext uri="{FF2B5EF4-FFF2-40B4-BE49-F238E27FC236}">
                <a16:creationId xmlns:a16="http://schemas.microsoft.com/office/drawing/2014/main" id="{5858C70A-7ECD-4A5C-BE9B-AC8186F82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39136" y="8204020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75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3" y="434978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25140" y="8546203"/>
            <a:ext cx="15233375" cy="32563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54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DBC4E267-D61B-4AAE-9915-A106F918FF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72939" y="1815911"/>
            <a:ext cx="317972" cy="286620"/>
          </a:xfrm>
          <a:prstGeom prst="rect">
            <a:avLst/>
          </a:prstGeom>
        </p:spPr>
      </p:pic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361879"/>
              </p:ext>
            </p:extLst>
          </p:nvPr>
        </p:nvGraphicFramePr>
        <p:xfrm>
          <a:off x="698503" y="1050331"/>
          <a:ext cx="14874179" cy="7495871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3935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4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2025/6/17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3288.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海天味业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食品添加剂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1,317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佛山市国有资产监督管理委员会 </a:t>
                      </a:r>
                      <a:r>
                        <a:rPr lang="en-US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(10)</a:t>
                      </a: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高瓴资本 </a:t>
                      </a:r>
                      <a:r>
                        <a:rPr lang="en-US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(350)</a:t>
                      </a: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新加坡政府投资公司 </a:t>
                      </a:r>
                      <a:r>
                        <a:rPr lang="en-US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(60)</a:t>
                      </a: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加拿大皇家银行 </a:t>
                      </a:r>
                      <a:r>
                        <a:rPr lang="en-US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(50)</a:t>
                      </a: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源峰基金 </a:t>
                      </a:r>
                      <a:r>
                        <a:rPr lang="en-US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(50)</a:t>
                      </a: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瑞银资管 </a:t>
                      </a:r>
                      <a:r>
                        <a:rPr lang="en-US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博裕 </a:t>
                      </a:r>
                      <a:r>
                        <a:rPr lang="en-US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(30)</a:t>
                      </a: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红杉资本 </a:t>
                      </a:r>
                      <a:r>
                        <a:rPr lang="en-US" altLang="zh-CN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(15)</a:t>
                      </a:r>
                      <a:endParaRPr lang="zh-CN" altLang="en-US" sz="900" b="0" i="0" u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088990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2025/6/6</a:t>
                      </a:r>
                    </a:p>
                  </a:txBody>
                  <a:tcPr marL="162560" marR="50800" marT="84667" marB="846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2573.HK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新琪安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食品添加剂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吉安市修能合赢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6.5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瑞凯集团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Reynold </a:t>
                      </a:r>
                      <a:r>
                        <a:rPr lang="en-HK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Lemkins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(1.3)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378993"/>
                  </a:ext>
                </a:extLst>
              </a:tr>
              <a:tr h="8361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2025/6/6</a:t>
                      </a:r>
                    </a:p>
                  </a:txBody>
                  <a:tcPr marL="162560" marR="50800" marT="84667" marB="846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9881.HK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容大科技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电脑存储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29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茅志理女士旗下香港临泰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(1.3)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曹柯先生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湖南大井电源行政总裁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(0.65)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林小坚先生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(2.6)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李舒菡女士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厦门龙胜达照明电器董事长助理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(0.26)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王迅先生旗下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Main Achieve (3.9)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伍志发先生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(0.43)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中晟集团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(1.3)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84606"/>
                  </a:ext>
                </a:extLst>
              </a:tr>
              <a:tr h="2787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2025/5/30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2621.HK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手回集团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保险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海泰香港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天津海泰集团旗下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韬越实业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深圳鹿驰南疆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(1.39)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987064"/>
                  </a:ext>
                </a:extLst>
              </a:tr>
              <a:tr h="2787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2025/5/23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2603.HK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吉宏股份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纸材料包装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沈臻宇女士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誉衡药业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(10)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Timber Kangaroo 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郑世杰先生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昱龙国际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苏施锦女士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(7)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246736"/>
                  </a:ext>
                </a:extLst>
              </a:tr>
              <a:tr h="5574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2025/5/21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1276.HK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恒瑞医药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制药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1,286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新加坡政府投资公司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GIC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(268)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瑞银全球资产管理集团</a:t>
                      </a:r>
                      <a:b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</a:b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UBS-GAM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Cordial Solar 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博裕资本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(40)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高瓴资本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(40)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Integrated Core Strategies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景顺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Invesco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(75)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Oaktree Capital 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橡树资本</a:t>
                      </a:r>
                      <a:r>
                        <a:rPr lang="en-HK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014164"/>
                  </a:ext>
                </a:extLst>
              </a:tr>
              <a:tr h="2787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2025/5/21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2629.HK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觅瑞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生物制药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141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北京浔瑞（九江市国资委旗下）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Evergreen Gate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（复星国际）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(7.92)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53036"/>
                  </a:ext>
                </a:extLst>
              </a:tr>
              <a:tr h="2787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2025/5/19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2565.HK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派格生物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生物制药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38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杭州拱墅国投创新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(25.50)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499215"/>
                  </a:ext>
                </a:extLst>
              </a:tr>
              <a:tr h="167223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2025/5/16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3750.HK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宁德时代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新能源电池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5,265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2,628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洛阳科创集团</a:t>
                      </a:r>
                      <a:r>
                        <a:rPr lang="en-US" altLang="zh-TW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(50)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科威特投资局</a:t>
                      </a:r>
                      <a:r>
                        <a:rPr lang="en-US" altLang="zh-TW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KIA (500)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高瓴资本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(200)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Abstract Enigma (100)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RBC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（加拿大皇家银行）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泰康人寿</a:t>
                      </a:r>
                      <a:r>
                        <a:rPr lang="en-US" altLang="zh-TW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太平洋资产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未来资产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WT Asset Management (100)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高毅资产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上海景林 </a:t>
                      </a:r>
                      <a:r>
                        <a:rPr lang="en-US" altLang="zh-TW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景林资产管理</a:t>
                      </a:r>
                      <a:r>
                        <a:rPr lang="en-US" altLang="zh-TW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UBS AM Singapore (100)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中石化（香港）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源峰基金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(80)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Exor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LMR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MX Bright Charm (70)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Oaktree Capital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（橡树资本）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(75)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Perseverance Asset Management (80)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Pinpoint Asset Management (100)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中邮理财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Zenith Hop International (110)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71623"/>
                  </a:ext>
                </a:extLst>
              </a:tr>
              <a:tr h="836117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2025/5/14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6831.HK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绿茶集团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餐饮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156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87.3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56%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无锡紫鲜（紫燕食品）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(35)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正大食品（卜蜂集团）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(7.09)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华置（华宝股份）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(6.24)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无锡合翔（烟台同翔食品）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无锡绿联（山东绿联食品）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无锡琴雨（上海琴雨食品）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安吉两山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(13)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沈国军（银泰创始人）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(13)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01430"/>
                  </a:ext>
                </a:extLst>
              </a:tr>
              <a:tr h="30704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2025/5/2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2589.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沪上阿姨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茶饮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35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9.21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华置贸易（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2.77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盈峰控股（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6.44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762853"/>
                  </a:ext>
                </a:extLst>
              </a:tr>
              <a:tr h="20386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2025/5/2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2865.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钧达新能源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新能源电池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234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63.2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37.8%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高景太阳能（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13.60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上饶产业引导基金（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49.60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849069"/>
                  </a:ext>
                </a:extLst>
              </a:tr>
              <a:tr h="263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2025/4/30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1333.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HK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博雷顿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新能源汽车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30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8.09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欣旺达（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4.91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长风基金（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3.18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60.6%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91433"/>
                  </a:ext>
                </a:extLst>
              </a:tr>
            </a:tbl>
          </a:graphicData>
        </a:graphic>
      </p:graphicFrame>
      <p:pic>
        <p:nvPicPr>
          <p:cNvPr id="7" name="图片 17">
            <a:extLst>
              <a:ext uri="{FF2B5EF4-FFF2-40B4-BE49-F238E27FC236}">
                <a16:creationId xmlns:a16="http://schemas.microsoft.com/office/drawing/2014/main" id="{012C20E8-0D4B-49D2-9752-76EDB69B0C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65346" y="7995041"/>
            <a:ext cx="317972" cy="286620"/>
          </a:xfrm>
          <a:prstGeom prst="rect">
            <a:avLst/>
          </a:prstGeom>
        </p:spPr>
      </p:pic>
      <p:pic>
        <p:nvPicPr>
          <p:cNvPr id="8" name="图片 17">
            <a:extLst>
              <a:ext uri="{FF2B5EF4-FFF2-40B4-BE49-F238E27FC236}">
                <a16:creationId xmlns:a16="http://schemas.microsoft.com/office/drawing/2014/main" id="{4A470EE1-1C4D-4E8A-8BAB-56BD88509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65346" y="4265448"/>
            <a:ext cx="317972" cy="286620"/>
          </a:xfrm>
          <a:prstGeom prst="rect">
            <a:avLst/>
          </a:prstGeom>
        </p:spPr>
      </p:pic>
      <p:pic>
        <p:nvPicPr>
          <p:cNvPr id="10" name="图片 17">
            <a:extLst>
              <a:ext uri="{FF2B5EF4-FFF2-40B4-BE49-F238E27FC236}">
                <a16:creationId xmlns:a16="http://schemas.microsoft.com/office/drawing/2014/main" id="{34CE1FFD-A2F0-4056-BA62-442D978A5B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65346" y="7173913"/>
            <a:ext cx="317972" cy="286620"/>
          </a:xfrm>
          <a:prstGeom prst="rect">
            <a:avLst/>
          </a:prstGeom>
        </p:spPr>
      </p:pic>
      <p:pic>
        <p:nvPicPr>
          <p:cNvPr id="14" name="图片 17">
            <a:extLst>
              <a:ext uri="{FF2B5EF4-FFF2-40B4-BE49-F238E27FC236}">
                <a16:creationId xmlns:a16="http://schemas.microsoft.com/office/drawing/2014/main" id="{34AEE456-0BF6-4082-BE4B-D0EA04A355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53684" y="4943266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>
            <a:extLst>
              <a:ext uri="{FF2B5EF4-FFF2-40B4-BE49-F238E27FC236}">
                <a16:creationId xmlns:a16="http://schemas.microsoft.com/office/drawing/2014/main" id="{179581A2-349C-4C88-87CD-81D329A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3" y="434978"/>
            <a:ext cx="14862175" cy="40957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244DE3D4-BCAF-4634-94DB-5CE1F062D11F}"/>
              </a:ext>
            </a:extLst>
          </p:cNvPr>
          <p:cNvSpPr txBox="1">
            <a:spLocks/>
          </p:cNvSpPr>
          <p:nvPr/>
        </p:nvSpPr>
        <p:spPr>
          <a:xfrm>
            <a:off x="525140" y="8546203"/>
            <a:ext cx="15233375" cy="32563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354"/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资料来源：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Dealogic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HKEX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截至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2025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年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12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月</a:t>
            </a:r>
            <a:r>
              <a:rPr lang="en-US" altLang="zh-TW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31</a:t>
            </a:r>
            <a:r>
              <a:rPr lang="zh-TW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日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。注：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 以港币兑人民币 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= 1:0.93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，港币兑美元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1:0.13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口径计算；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2.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发行规模为绿鞋后数据，最近一周上市项目按绿鞋前数据计算，即将上市项目但尚未定价项目按最高定价数据计算；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3. 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4.</a:t>
            </a:r>
            <a:r>
              <a:rPr lang="zh-CN" altLang="en-US" sz="1051" kern="0" dirty="0">
                <a:solidFill>
                  <a:sysClr val="windowText" lastClr="000000"/>
                </a:solidFill>
                <a:latin typeface="Calibri"/>
                <a:ea typeface="楷体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1051" kern="0" dirty="0">
              <a:solidFill>
                <a:sysClr val="windowText" lastClr="000000"/>
              </a:solidFill>
              <a:latin typeface="Calibri"/>
              <a:ea typeface="楷体"/>
              <a:cs typeface="+mn-ea"/>
              <a:sym typeface="+mn-lt"/>
            </a:endParaRPr>
          </a:p>
        </p:txBody>
      </p:sp>
      <p:pic>
        <p:nvPicPr>
          <p:cNvPr id="13" name="图片 17">
            <a:extLst>
              <a:ext uri="{FF2B5EF4-FFF2-40B4-BE49-F238E27FC236}">
                <a16:creationId xmlns:a16="http://schemas.microsoft.com/office/drawing/2014/main" id="{DBC4E267-D61B-4AAE-9915-A106F918FF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65346" y="1889488"/>
            <a:ext cx="317972" cy="286620"/>
          </a:xfrm>
          <a:prstGeom prst="rect">
            <a:avLst/>
          </a:prstGeom>
        </p:spPr>
      </p:pic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C06E4DD-0EDC-4FFB-B056-CA85B87A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566345"/>
              </p:ext>
            </p:extLst>
          </p:nvPr>
        </p:nvGraphicFramePr>
        <p:xfrm>
          <a:off x="698503" y="1050330"/>
          <a:ext cx="14874179" cy="7374384"/>
        </p:xfrm>
        <a:graphic>
          <a:graphicData uri="http://schemas.openxmlformats.org/drawingml/2006/table">
            <a:tbl>
              <a:tblPr/>
              <a:tblGrid>
                <a:gridCol w="78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34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12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155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48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1602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发行规模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0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01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2025/4/11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9606.HK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映恩生物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生物医药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230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苏州苏创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(2.00)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BioNTech SE(5.00)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LAV Star Opportunities(5.00)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Lake Bleu(5.00)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 err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TruMed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Healthcare(10.00)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富国香港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富国基金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易方达香港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易方达基金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(8.00)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汇添富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(6.00)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盘京港景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MY.Alpha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Exome Asset(4.00)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907375"/>
                  </a:ext>
                </a:extLst>
              </a:tr>
              <a:tr h="3444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2025/4/3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3677.HK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正力新能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新能源电池</a:t>
                      </a:r>
                      <a:endParaRPr lang="zh-CN" alt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131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江苏国企混改基金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(13.5)</a:t>
                      </a:r>
                    </a:p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苏州高端装备基金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(27.6)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东南投控</a:t>
                      </a: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(38.8)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0235"/>
                  </a:ext>
                </a:extLst>
              </a:tr>
              <a:tr h="3444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2025/3/27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2625.HK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江苏宏信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商超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Top Legend(5.00)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04393"/>
                  </a:ext>
                </a:extLst>
              </a:tr>
              <a:tr h="55117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2025/3/21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2610.HK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南山铝业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铝业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302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嘉能可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(GLEN.LSE) (51.00)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香港拓威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(51.00)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瑞中国际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Indika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Energy(INDY.IDX) (10.00)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310135"/>
                  </a:ext>
                </a:extLst>
              </a:tr>
              <a:tr h="5801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2025/3/19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2561.HK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维升药业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医药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101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园丰（苏州工业园区产投基金子公司）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(18.00)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Vivo Capital (10.00)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安科生物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药明生物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瑞凯集团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(4.00)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27076"/>
                  </a:ext>
                </a:extLst>
              </a:tr>
              <a:tr h="5801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2025/3/6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6693.HK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赤峰黄金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黄金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362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金山（香港）国际矿业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(40.00)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斯派柯国际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(52.00)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406993"/>
                  </a:ext>
                </a:extLst>
              </a:tr>
              <a:tr h="5801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2025/2/26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2097.HK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蜜雪冰城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茶饮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444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M&amp;G 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英卓投资管理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(60.00)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红杉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(60.00)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博裕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(40.00)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高瓴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(30.00)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美团龙珠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(10.00)</a:t>
                      </a:r>
                      <a:endParaRPr lang="en-US" sz="9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01430"/>
                  </a:ext>
                </a:extLst>
              </a:tr>
              <a:tr h="5090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2025/2/7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1364.HK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古茗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茶饮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261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31%</a:t>
                      </a: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美团龙珠 </a:t>
                      </a: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(8.00)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腾讯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(25.00)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元生资本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(15.00)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正心谷资本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(15.00)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Duckling</a:t>
                      </a: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Fund (8.00)</a:t>
                      </a:r>
                      <a:endParaRPr lang="en-US" sz="9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762853"/>
                  </a:ext>
                </a:extLst>
              </a:tr>
              <a:tr h="4133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2025/1/13</a:t>
                      </a:r>
                    </a:p>
                  </a:txBody>
                  <a:tcPr marR="63500" marT="31749" marB="3174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2571.HK</a:t>
                      </a:r>
                    </a:p>
                  </a:txBody>
                  <a:tcPr marR="23813" marT="23813" marB="238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赛目科技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应用软件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39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19.30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中国移动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(19.30)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849069"/>
                  </a:ext>
                </a:extLst>
              </a:tr>
              <a:tr h="464096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2025/1/8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325.HK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布鲁可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拼搭玩具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247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景林投资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(20.00)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瑞银资管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(20.00)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富国基金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(7.00)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富国资管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(3.00)</a:t>
                      </a:r>
                      <a:endParaRPr lang="en-US" sz="9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91433"/>
                  </a:ext>
                </a:extLst>
              </a:tr>
              <a:tr h="55117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2025/1/7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2560.HK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海螺材料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建筑材料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56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42.20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75%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深圳高灯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7.41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安徽盛昌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7.35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芜湖阿泰克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2.80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SCGC</a:t>
                      </a: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资本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6.46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endParaRPr lang="en-US" altLang="zh-CN" sz="9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国轩高科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9.78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广东纵行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8.39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9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94942"/>
                  </a:ext>
                </a:extLst>
              </a:tr>
              <a:tr h="275585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2025/1/7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2613.HK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汇舸环保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应用软件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41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嘉实基金 </a:t>
                      </a:r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(10.00)</a:t>
                      </a:r>
                      <a:endParaRPr lang="en-HK" sz="9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75244"/>
                  </a:ext>
                </a:extLst>
              </a:tr>
              <a:tr h="344481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2025/1/7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6681.HK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脑动极光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生物科技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75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48.50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64%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苏州策源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29.50)</a:t>
                      </a:r>
                      <a:endParaRPr lang="en-US" altLang="zh-CN" sz="9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黄光伟 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4.00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天士力（国际）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10.00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天士力（香港）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5.00</a:t>
                      </a:r>
                      <a:r>
                        <a:rPr lang="en-US" altLang="zh-CN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r>
                        <a:rPr lang="zh-CN" altLang="en-US" sz="9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endParaRPr lang="en-US" altLang="zh-CN" sz="9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900" dirty="0"/>
                        <a:t>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420239"/>
                  </a:ext>
                </a:extLst>
              </a:tr>
            </a:tbl>
          </a:graphicData>
        </a:graphic>
      </p:graphicFrame>
      <p:pic>
        <p:nvPicPr>
          <p:cNvPr id="8" name="图片 17">
            <a:extLst>
              <a:ext uri="{FF2B5EF4-FFF2-40B4-BE49-F238E27FC236}">
                <a16:creationId xmlns:a16="http://schemas.microsoft.com/office/drawing/2014/main" id="{4A470EE1-1C4D-4E8A-8BAB-56BD88509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80531" y="5313362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522F47BC-CF77-4469-86B7-64A7AC172F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349940" y="8055529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185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  <a:effectLst/>
      </a:spPr>
      <a:bodyPr wrap="square" lIns="108000" tIns="108000" rIns="108000" bIns="108000" rtlCol="0" anchor="ctr">
        <a:spAutoFit/>
      </a:bodyPr>
      <a:lstStyle>
        <a:defPPr algn="just" defTabSz="1002694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7338</Words>
  <Application>Microsoft Office PowerPoint</Application>
  <PresentationFormat>自定义</PresentationFormat>
  <Paragraphs>1530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微软雅黑</vt:lpstr>
      <vt:lpstr>Arial</vt:lpstr>
      <vt:lpstr>Calibri</vt:lpstr>
      <vt:lpstr>Calibri</vt:lpstr>
      <vt:lpstr>Office 主题​​</vt:lpstr>
      <vt:lpstr>1</vt:lpstr>
      <vt:lpstr>2025年至今港股IPO项目基石投资情况概览</vt:lpstr>
      <vt:lpstr>2025年至今港股IPO项目基石投资情况概览</vt:lpstr>
      <vt:lpstr>2025年至今港股IPO项目基石投资情况概览</vt:lpstr>
      <vt:lpstr>2025年至今港股IPO项目基石投资情况概览</vt:lpstr>
      <vt:lpstr>2025年至今港股IPO项目基石投资情况概览（续）</vt:lpstr>
      <vt:lpstr>2025年至今港股IPO项目基石投资情况概览（续）</vt:lpstr>
      <vt:lpstr>2025年至今港股IPO项目基石投资情况概览（续）</vt:lpstr>
      <vt:lpstr>2025年至今港股IPO项目基石投资情况概览（续）</vt:lpstr>
      <vt:lpstr>2025年至今港股IPO项目基石投资情况概览（续）</vt:lpstr>
      <vt:lpstr>2025年至今港股IPO项目基石投资情况概览（续）</vt:lpstr>
      <vt:lpstr>2025年至今港股IPO项目基石投资情况概览（续）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Tianhao Liao</dc:creator>
  <cp:lastModifiedBy>YAXIN FAN</cp:lastModifiedBy>
  <cp:revision>133</cp:revision>
  <dcterms:created xsi:type="dcterms:W3CDTF">2025-09-09T07:39:32Z</dcterms:created>
  <dcterms:modified xsi:type="dcterms:W3CDTF">2026-06-25T12:30:17Z</dcterms:modified>
</cp:coreProperties>
</file>