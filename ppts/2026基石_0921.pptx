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1"/>
  </p:handoutMasterIdLst>
  <p:sldIdLst>
    <p:sldId id="16776610" r:id="rId4"/>
    <p:sldId id="16776617" r:id="rId6"/>
    <p:sldId id="16776613" r:id="rId7"/>
    <p:sldId id="16776612" r:id="rId8"/>
    <p:sldId id="16776611" r:id="rId9"/>
    <p:sldId id="16776607" r:id="rId10"/>
    <p:sldId id="16776609" r:id="rId11"/>
    <p:sldId id="16776604" r:id="rId12"/>
    <p:sldId id="16776355" r:id="rId13"/>
    <p:sldId id="16776600" r:id="rId14"/>
    <p:sldId id="16776619" r:id="rId15"/>
    <p:sldId id="16776594" r:id="rId16"/>
    <p:sldId id="16776595" r:id="rId17"/>
    <p:sldId id="16776596" r:id="rId18"/>
    <p:sldId id="16776597" r:id="rId19"/>
    <p:sldId id="1677661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F capital" initials="GF" lastIdx="0" clrIdx="0"/>
  <p:cmAuthor id="2" name="User" initials="e" lastIdx="0" clrIdx="1"/>
  <p:cmAuthor id="3" name="Ken Chen 陳立杰" initials="KC陳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8" autoAdjust="0"/>
    <p:restoredTop sz="96509" autoAdjust="0"/>
  </p:normalViewPr>
  <p:slideViewPr>
    <p:cSldViewPr snapToGrid="0">
      <p:cViewPr varScale="1">
        <p:scale>
          <a:sx n="96" d="100"/>
          <a:sy n="96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0390" y="933450"/>
          <a:ext cx="11229340" cy="4679528"/>
        </p:xfrm>
        <a:graphic>
          <a:graphicData uri="http://schemas.openxmlformats.org/drawingml/2006/table">
            <a:tbl>
              <a:tblPr/>
              <a:tblGrid>
                <a:gridCol w="539750"/>
                <a:gridCol w="252095"/>
                <a:gridCol w="671195"/>
                <a:gridCol w="372745"/>
                <a:gridCol w="534670"/>
                <a:gridCol w="483235"/>
                <a:gridCol w="333375"/>
                <a:gridCol w="1430020"/>
                <a:gridCol w="1450340"/>
                <a:gridCol w="1337945"/>
                <a:gridCol w="1541780"/>
                <a:gridCol w="1619885"/>
                <a:gridCol w="66230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/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755015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2026-09-08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9976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江波龙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920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151.13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19%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传音国际（25）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联想（10）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蓝思科技（10）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君正（10）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七彩虹科技（9.72）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宏芯宇（7.25）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华曦达（2.59）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中信资管香港（19.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43</a:t>
                      </a:r>
                      <a:r>
                        <a:rPr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AHGO SPC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（TCL）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（12.75）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巨源国际（10）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常青科技（5）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裕丰（20）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 Technology（5）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（周大福）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81%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33550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2026-09-01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0625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希音-W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1,768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Boyu（150）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Tiger Global（53）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General Atlantic（50）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景林（30）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腾讯（50）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泰康人寿（30）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 AM Singapore（20）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87%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01065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2026-09-01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9615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梅卡曼德机器人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Golden Link（比亚迪全资附属）（6）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Baillie Gifford（60）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泰康人寿（40）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Invus（15）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Jane Street（15）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Ghisallo（15）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Ruihua（15）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NGS Super Fund（10）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易方达（10）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010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2026-08-25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3223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君正股份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191.65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47%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Arrow Target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Heading Pioneer</a:t>
                      </a:r>
                      <a:r>
                        <a:rPr lang="zh-CN" altLang="en-US" sz="8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清华大学</a:t>
                      </a:r>
                      <a:r>
                        <a:rPr lang="zh-CN" altLang="en-US" sz="8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8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Emerald Prime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创客天地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部分通过华泰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19.65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Dream‘eeHK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" name="TextBox 52"/>
          <p:cNvSpPr txBox="1"/>
          <p:nvPr/>
        </p:nvSpPr>
        <p:spPr>
          <a:xfrm>
            <a:off x="393856" y="517888"/>
            <a:ext cx="1141601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2026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IPO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项目基石的积极度显著提升，特别是对于估值合理的优质项目参与比例较高</a:t>
            </a:r>
            <a:endParaRPr lang="zh-CN" altLang="en-US" sz="1000" kern="0" dirty="0">
              <a:solidFill>
                <a:srgbClr val="000000"/>
              </a:solidFill>
              <a:latin typeface="Calibri" panose="020F0502020204030204"/>
              <a:cs typeface="+mn-ea"/>
              <a:sym typeface="+mn-lt"/>
            </a:endParaRP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2026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年至今共有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74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家发行规模在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亿美元以上的港股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IPO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上市公司引入基石投资者，基石投资者占发行规模的平均比例为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45%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，基石中非纯财务投资者平均比例为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23%</a:t>
            </a:r>
            <a:endParaRPr lang="en-US" sz="1000" kern="0" dirty="0">
              <a:solidFill>
                <a:srgbClr val="000000"/>
              </a:solidFill>
              <a:latin typeface="Calibri" panose="020F0502020204030204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0390" y="711200"/>
          <a:ext cx="11229340" cy="5255895"/>
        </p:xfrm>
        <a:graphic>
          <a:graphicData uri="http://schemas.openxmlformats.org/drawingml/2006/table">
            <a:tbl>
              <a:tblPr/>
              <a:tblGrid>
                <a:gridCol w="539750"/>
                <a:gridCol w="252095"/>
                <a:gridCol w="671195"/>
                <a:gridCol w="372745"/>
                <a:gridCol w="534670"/>
                <a:gridCol w="483235"/>
                <a:gridCol w="333375"/>
                <a:gridCol w="1440180"/>
                <a:gridCol w="1440180"/>
                <a:gridCol w="1439545"/>
                <a:gridCol w="1440180"/>
                <a:gridCol w="1619885"/>
                <a:gridCol w="66230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/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2889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2026-07-30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3308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中际旭创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6,814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3,450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周大福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华登科技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阿布扎比投资局 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澳大利亚养老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加拿大养老金 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CPP Investments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摩根资产管理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云锋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Wellington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Indus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贝恩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 &amp; Ninety One Asia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Tairen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Advisors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建峖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Trivest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Burkehill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泛大西洋投资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5030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2026-07-10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2249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晶合集成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908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446.2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集创（含合肥集创香港及集创香港）（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51.36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智感微电子（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歌尔泰克（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璞新科技（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50.84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奇瑞汽车（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汇添富（香港）（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NGS Super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2026-07-10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6745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滨化股份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49.8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Aurora</a:t>
                      </a:r>
                      <a:r>
                        <a:rPr lang="zh-CN" altLang="en-US" sz="700" b="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（滨州国资委）（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中国宏桥（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北京益安（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Hyperion Venture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天图科技（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盛威（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项目基石投资情况概览（续）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2322727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4200" y="614680"/>
          <a:ext cx="11225530" cy="5951220"/>
        </p:xfrm>
        <a:graphic>
          <a:graphicData uri="http://schemas.openxmlformats.org/drawingml/2006/table">
            <a:tbl>
              <a:tblPr/>
              <a:tblGrid>
                <a:gridCol w="539750"/>
                <a:gridCol w="252095"/>
                <a:gridCol w="647700"/>
                <a:gridCol w="395605"/>
                <a:gridCol w="534035"/>
                <a:gridCol w="483235"/>
                <a:gridCol w="334010"/>
                <a:gridCol w="1439545"/>
                <a:gridCol w="1438910"/>
                <a:gridCol w="1439545"/>
                <a:gridCol w="1439545"/>
                <a:gridCol w="1546225"/>
                <a:gridCol w="735330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/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2889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2475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立讯精密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3,155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1,500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48%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CPPIB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（通过高瓴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SMA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Neem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Foresight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（阿布扎比投资局）（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（瑞银资管）（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瀚亚（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三菱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千禧年（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Polymer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7164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7-09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6951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三环集团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931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455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Metazone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River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晋达（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Alibaba Investment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黄河（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Huang River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，腾讯旗下）（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GSAM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宏利（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3752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珞石机器人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35.08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金融街资本（国务院国资委）（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12.09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All View 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34%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0537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普源精电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61.28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苏州高新区（太湖金谷及科发集团）（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华圆（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高领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中信保诚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1.78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彭年集团（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Purple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Diamond Ltd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34%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6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2243987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6575" y="663575"/>
          <a:ext cx="11229340" cy="6021705"/>
        </p:xfrm>
        <a:graphic>
          <a:graphicData uri="http://schemas.openxmlformats.org/drawingml/2006/table">
            <a:tbl>
              <a:tblPr/>
              <a:tblGrid>
                <a:gridCol w="539750"/>
                <a:gridCol w="252095"/>
                <a:gridCol w="648335"/>
                <a:gridCol w="395605"/>
                <a:gridCol w="534670"/>
                <a:gridCol w="483235"/>
                <a:gridCol w="333375"/>
                <a:gridCol w="1440180"/>
                <a:gridCol w="1440180"/>
                <a:gridCol w="1439545"/>
                <a:gridCol w="1440180"/>
                <a:gridCol w="1619885"/>
                <a:gridCol w="66230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/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1609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1377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鼎泰高科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624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254.04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41%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建滔投资（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定颖控投（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8.04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INVESTMENT XV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VED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千禧管理（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IFUND SPC-Vision IX SP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霸菱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天壹资产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7-08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6880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MOMENTA-W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766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375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苏州魔速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24.75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梅赛德斯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奔驰集团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金兴环球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兆易创新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BlackRock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Franklin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Templeton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/Arcane Nexus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中国太保（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696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08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7687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易控智驾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146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紫金矿业（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（徐工集团）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富达国际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FIL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霸菱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Indus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Jain Global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Regal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广发基金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鼎晖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CDH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Seven Grand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83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2026-07-02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0668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安克创新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602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Schroder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Aspex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信安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PFG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TRS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高瓴（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UBS GAM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Jane Street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泰康（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WT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惠理（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2026-06-30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6715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鲟龙科技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78.5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贝莱德（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Barings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TRS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Nova Kerry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ACCF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Mirae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649605"/>
          <a:ext cx="11186795" cy="6030172"/>
        </p:xfrm>
        <a:graphic>
          <a:graphicData uri="http://schemas.openxmlformats.org/drawingml/2006/table">
            <a:tbl>
              <a:tblPr/>
              <a:tblGrid>
                <a:gridCol w="537845"/>
                <a:gridCol w="251460"/>
                <a:gridCol w="638175"/>
                <a:gridCol w="401320"/>
                <a:gridCol w="532765"/>
                <a:gridCol w="481330"/>
                <a:gridCol w="332105"/>
                <a:gridCol w="1434465"/>
                <a:gridCol w="1434465"/>
                <a:gridCol w="1435100"/>
                <a:gridCol w="1434465"/>
                <a:gridCol w="1613535"/>
                <a:gridCol w="65976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/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3952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来福谐波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明山资本（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CDH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鼎晖（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Eurus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清池资本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Lake Bleu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Dream‘ee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Factorial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Oasis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696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9637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礼邦医药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167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81.51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 Unicode MS"/>
                        <a:ea typeface="楷体" panose="02010609060101010101" pitchFamily="49" charset="-122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正心谷（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3.51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Loomis Sayles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12.5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RTW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Symbiosis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Cormorant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1191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海光芯正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99.24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JSC International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（北京国资委）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金山云（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5.09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双赢科技（佰维存储）（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20.37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10.18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5.09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64%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4833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2026-06-26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6228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PT Merdeka 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304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152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托克集团（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开元矿业（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万国黄金（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嘉能可（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摩科瑞（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中伟股份（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平安资管（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（周大福）（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64%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609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6-26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1688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领益智造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1054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406.9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荣耀（深圳国资委）（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宏兴国际（胜宏科技）（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（旺旺家办）（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舜宇光学（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Ti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-Capital Funds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29.9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9630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芯碁微装</a:t>
                      </a:r>
                      <a:endParaRPr lang="zh-CN" altLang="en-US" sz="8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422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207.01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澜起科技（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海燿实业（通富微电子）（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芯耀投资（合肥国资委）（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晶合集成（合肥国资委）（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永联投资（永卓控股）（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Monterey Park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（臻鼎科技）（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9.51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Lion Global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Victorious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43%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55625"/>
          <a:ext cx="11424920" cy="5274945"/>
        </p:xfrm>
        <a:graphic>
          <a:graphicData uri="http://schemas.openxmlformats.org/drawingml/2006/table">
            <a:tbl>
              <a:tblPr/>
              <a:tblGrid>
                <a:gridCol w="657225"/>
                <a:gridCol w="423545"/>
                <a:gridCol w="685800"/>
                <a:gridCol w="588645"/>
                <a:gridCol w="541655"/>
                <a:gridCol w="490220"/>
                <a:gridCol w="338455"/>
                <a:gridCol w="1610995"/>
                <a:gridCol w="1196975"/>
                <a:gridCol w="1256030"/>
                <a:gridCol w="1469390"/>
                <a:gridCol w="1494790"/>
                <a:gridCol w="67119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/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0">
                <a:tc vMerge="1"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21431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3661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圣邦股份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587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293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Ocean Fine Industrial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（通富微电子）（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软通动力（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First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（三菱）（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Continent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（金洲证券）（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高瓴（代表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CPPIB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2026-06-26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956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中科闻歌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115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山东国惠（山东省国资委）（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Orient Enhanced Income Fund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（东方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民银投资（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2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2026-06-24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2335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麦科奥特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135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58.4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启源香港（山西省国资委）（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44.38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云顶新耀（康桥资本）（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顺鸣资本（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2026-06-24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6106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仙工智能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136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59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43%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元宝家办（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瑞华投资（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ACCF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83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2026-06-23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6067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星源材质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171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77.52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欣旺达（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2.42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晶科能源（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5.2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7.7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5.8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淡水泉（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高腾（中金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Mondeomax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Bona Star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9.75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深三和（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SHEEN NATION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陈峰（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82295"/>
          <a:ext cx="11424920" cy="5594985"/>
        </p:xfrm>
        <a:graphic>
          <a:graphicData uri="http://schemas.openxmlformats.org/drawingml/2006/table">
            <a:tbl>
              <a:tblPr/>
              <a:tblGrid>
                <a:gridCol w="657225"/>
                <a:gridCol w="433705"/>
                <a:gridCol w="675640"/>
                <a:gridCol w="812165"/>
                <a:gridCol w="551815"/>
                <a:gridCol w="459740"/>
                <a:gridCol w="602615"/>
                <a:gridCol w="1143635"/>
                <a:gridCol w="1196975"/>
                <a:gridCol w="1256030"/>
                <a:gridCol w="1469390"/>
                <a:gridCol w="1494790"/>
                <a:gridCol w="67119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6132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华健未来</a:t>
                      </a:r>
                      <a:endParaRPr lang="zh-CN" altLang="en-US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凯博（宣城市国资委）（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睿远基金（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清池资本（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Sage Partners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盘京基金（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629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2026-06-17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6675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琻捷电子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隆威香港（保隆汽车）（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3.06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9.57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David </a:t>
                      </a: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阎焱（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（李锋）（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3.90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Libra Fixed Income One SP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（庄家颖）（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76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2026-06-05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1779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天辰生物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睿郡资产（华泰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（张国锋）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源峰（银河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2026-06-05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1081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大金重工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863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3388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创想三维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179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50%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中信兴业（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CPE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Martis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（天壹）（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博约基金（盈峰）（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GBAHIL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Crestline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Oasis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Jump Trading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Polymer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鼎鑫证券（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Colloway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Seven Grand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Millennium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Optimas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2)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Calibri" panose="020F050202020403020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1615436"/>
            <a:ext cx="317972" cy="286620"/>
          </a:xfrm>
          <a:prstGeom prst="rect">
            <a:avLst/>
          </a:prstGeom>
        </p:spPr>
      </p:pic>
      <p:pic>
        <p:nvPicPr>
          <p:cNvPr id="9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2613383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5000" y="788035"/>
          <a:ext cx="11146790" cy="5697855"/>
        </p:xfrm>
        <a:graphic>
          <a:graphicData uri="http://schemas.openxmlformats.org/drawingml/2006/table">
            <a:tbl>
              <a:tblPr/>
              <a:tblGrid>
                <a:gridCol w="591185"/>
                <a:gridCol w="515620"/>
                <a:gridCol w="628015"/>
                <a:gridCol w="534670"/>
                <a:gridCol w="556895"/>
                <a:gridCol w="478155"/>
                <a:gridCol w="330200"/>
                <a:gridCol w="1571625"/>
                <a:gridCol w="1168400"/>
                <a:gridCol w="970915"/>
                <a:gridCol w="1585595"/>
                <a:gridCol w="1687195"/>
                <a:gridCol w="528320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2026-05-27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3310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云英谷科技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50.57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Digital Vista GD Investment LP 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（45.5）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Limited （5.07）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7688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拓璞数控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224</a:t>
                      </a:r>
                      <a:endParaRPr 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110.01</a:t>
                      </a:r>
                      <a:endParaRPr 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上海闵行（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信庭基金（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富国（富国基金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820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1511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驭势科技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33.96</a:t>
                      </a:r>
                      <a:endParaRPr kumimoji="0" lang="en-US" sz="7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雄安自动驾驶（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29.08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CYGG （58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集团）（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International A LPF（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洪泰证券）（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3.86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89%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64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7666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剂泰科技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-P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270</a:t>
                      </a:r>
                      <a:endParaRPr 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148</a:t>
                      </a:r>
                      <a:endParaRPr kumimoji="0" lang="en-US" sz="7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国风投创新投（国资委）（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Deerfield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Isometry Global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工银瑞信实体（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Lake Bleu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Sage Partners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 Asia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21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15760" y="1616498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792480"/>
          <a:ext cx="11155680" cy="5702300"/>
        </p:xfrm>
        <a:graphic>
          <a:graphicData uri="http://schemas.openxmlformats.org/drawingml/2006/table">
            <a:tbl>
              <a:tblPr/>
              <a:tblGrid>
                <a:gridCol w="591820"/>
                <a:gridCol w="515620"/>
                <a:gridCol w="628650"/>
                <a:gridCol w="535305"/>
                <a:gridCol w="557530"/>
                <a:gridCol w="478155"/>
                <a:gridCol w="422275"/>
                <a:gridCol w="1481455"/>
                <a:gridCol w="1351915"/>
                <a:gridCol w="1043305"/>
                <a:gridCol w="1434465"/>
                <a:gridCol w="1586230"/>
                <a:gridCol w="528955"/>
              </a:tblGrid>
              <a:tr h="14097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81305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7630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英派药业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108</a:t>
                      </a:r>
                      <a:endParaRPr 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35.74</a:t>
                      </a:r>
                      <a:endParaRPr kumimoji="0" lang="en-US" sz="7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BPV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（通过华泰资本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腾讯控股（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9.99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WWHCP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Exome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First Quarter Moon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（上弦月资管）（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1236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乐动机器人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113</a:t>
                      </a:r>
                      <a:endParaRPr 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36.01</a:t>
                      </a:r>
                      <a:endParaRPr 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32%</a:t>
                      </a:r>
                      <a:endParaRPr 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（诸暨市财政局）（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9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2026-05-06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1187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可孚医疗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136</a:t>
                      </a:r>
                      <a:endParaRPr kumimoji="0" lang="en-US" sz="7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48.5</a:t>
                      </a:r>
                      <a:endParaRPr kumimoji="0" lang="en-US" sz="700" b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长沙雨丰（长沙雨花区政府）（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6.99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蓝思科技（香港）（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香港汉清达（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中康科技（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黄雪林（胜蓝科技）（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远信投资（通过银河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6.51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戴钧安（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陆勤超（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2026-05-05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1609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天星医疗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106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JSC International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SP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）（亦庄财政国资局）（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奥博亚洲四期（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Mega Prime &amp; Poly Platinum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6810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商米科技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-W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36.57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31.57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86%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46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1879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曦智科技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-P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209.9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联想（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中兴通讯（香港）（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上海中移基金（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1991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3540" y="488315"/>
          <a:ext cx="11358245" cy="5897245"/>
        </p:xfrm>
        <a:graphic>
          <a:graphicData uri="http://schemas.openxmlformats.org/drawingml/2006/table">
            <a:tbl>
              <a:tblPr/>
              <a:tblGrid>
                <a:gridCol w="596900"/>
                <a:gridCol w="471170"/>
                <a:gridCol w="650240"/>
                <a:gridCol w="597535"/>
                <a:gridCol w="570865"/>
                <a:gridCol w="501015"/>
                <a:gridCol w="395605"/>
                <a:gridCol w="1496695"/>
                <a:gridCol w="1260475"/>
                <a:gridCol w="1236345"/>
                <a:gridCol w="1447165"/>
                <a:gridCol w="1600835"/>
                <a:gridCol w="533400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3114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1144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2493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迈威生物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53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山东国惠（山东省国资委）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君实香港（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昌荣国际（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664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3296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华勤技术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581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290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豪威集团（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（小米）（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宏兴国际（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艾唯技术（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Aurora SF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（晶合集成）（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建滔投资（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香港君正（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JinYi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248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2476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胜宏科技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2,567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997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大族数控（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华勤新加坡（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Hesai HK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惠州国投（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28.75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叶国富（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正大集团（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Yunfeng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旺旺家办（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阳光人寿（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涌容资产管理（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信银投资（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大湾区共同家园投资（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天弘基金（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奇点资产（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Asset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周大福家办（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4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65445" y="462320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1991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3540" y="587711"/>
          <a:ext cx="11358245" cy="5435864"/>
        </p:xfrm>
        <a:graphic>
          <a:graphicData uri="http://schemas.openxmlformats.org/drawingml/2006/table">
            <a:tbl>
              <a:tblPr/>
              <a:tblGrid>
                <a:gridCol w="596900"/>
                <a:gridCol w="471170"/>
                <a:gridCol w="650240"/>
                <a:gridCol w="597535"/>
                <a:gridCol w="570865"/>
                <a:gridCol w="501015"/>
                <a:gridCol w="395605"/>
                <a:gridCol w="1496695"/>
                <a:gridCol w="1260475"/>
                <a:gridCol w="1236345"/>
                <a:gridCol w="1447165"/>
                <a:gridCol w="1600835"/>
                <a:gridCol w="533400"/>
              </a:tblGrid>
              <a:tr h="12065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40665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2026/4/17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0068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群核科技</a:t>
                      </a:r>
                      <a:endParaRPr kumimoji="0" sz="700" b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700" b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  <a:endParaRPr kumimoji="0" lang="en-US" sz="700" b="0" baseline="0" dirty="0" err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159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5115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2026-04-17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3277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长光辰芯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339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166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未来香港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钟鼎资本八期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宁远资本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源码资本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1.73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招证投资（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0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2026-04-16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6656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思格新能源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572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280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上海陆家嘴（浦东国资委）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（国泰君安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28.89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正大机器人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Aranda Investments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（淡马锡）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高盛资产管理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Lazurite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太保资管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景林资管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HuadengTechnology（10）</a:t>
                      </a:r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（高毅）（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TROPICAL TERRAIN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8239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9590" y="466725"/>
          <a:ext cx="11149965" cy="5787528"/>
        </p:xfrm>
        <a:graphic>
          <a:graphicData uri="http://schemas.openxmlformats.org/drawingml/2006/table">
            <a:tbl>
              <a:tblPr/>
              <a:tblGrid>
                <a:gridCol w="594360"/>
                <a:gridCol w="515620"/>
                <a:gridCol w="628015"/>
                <a:gridCol w="543560"/>
                <a:gridCol w="556895"/>
                <a:gridCol w="469265"/>
                <a:gridCol w="462280"/>
                <a:gridCol w="1459865"/>
                <a:gridCol w="1615440"/>
                <a:gridCol w="757555"/>
                <a:gridCol w="1229995"/>
                <a:gridCol w="1788795"/>
                <a:gridCol w="528320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97815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2026-03-30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2726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瀚天天成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209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101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47%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厦门先进制造业基金（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100.72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18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2026-03-30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1021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华沿机器人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98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56%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全顺（顺德国资委）（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（30）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 （10）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灏浚投资（通过华泰</a:t>
                      </a: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TRS）（5.8）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Eternal Summer （5）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Shrewd Pioneer （5）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VVC Technology （3）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晟信集团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973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3355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飞速创新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213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90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Aether Wave Fund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SCGC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资本（6.41）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Great Holding（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袁永刚）（14.47）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Fund（Hao Advisors）（20）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Asset Management（10）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Caitong SEIII（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财通资管香港）（9.61）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翠鸣系（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掉期通道合并）（7.18）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前瞻（6.41）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GF Fund HK（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广发基金香港）（5）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凯鹰系（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掉期通道合并）（3.84）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Wider Hugs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Laurena Wu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（1.3）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2701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国民技术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131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国华人寿（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Harvest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5.2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戴婉琴（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安江波（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0%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77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1989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广合科技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423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194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霸菱（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97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2026-03-10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3268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美格智能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151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名幸电子香港有限公司（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锐明电子有限公司（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宝月湖深产投共赢企业管理有限公司（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中兴有限公司（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清华教育基金会（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（6）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开盘财富管理有限公司（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周增昌（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0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417" y="5175905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6207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432435"/>
          <a:ext cx="11155680" cy="6221096"/>
        </p:xfrm>
        <a:graphic>
          <a:graphicData uri="http://schemas.openxmlformats.org/drawingml/2006/table">
            <a:tbl>
              <a:tblPr/>
              <a:tblGrid>
                <a:gridCol w="591820"/>
                <a:gridCol w="515620"/>
                <a:gridCol w="628650"/>
                <a:gridCol w="535305"/>
                <a:gridCol w="557530"/>
                <a:gridCol w="478155"/>
                <a:gridCol w="330835"/>
                <a:gridCol w="1572895"/>
                <a:gridCol w="1169035"/>
                <a:gridCol w="1226185"/>
                <a:gridCol w="1434465"/>
                <a:gridCol w="1586230"/>
                <a:gridCol w="52895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1820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2026-03-09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2692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兆威机电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256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83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太湖金谷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VVC Technology （2）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联城集团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拓斯达（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 （15）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 （5）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 （6）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（5）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 Trading （3）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 （2）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双诚资本（通过建投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恒邦私募（通过银河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民银国际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雾淞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万源资本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文盈投资（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存然资本（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何茂灵先生（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罗杰先生（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2026-03-09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2715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埃斯顿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193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亨通光电国际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至源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裕祥（网誉科技）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Harvest Oriental （20）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（10）</a:t>
                      </a:r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前海合眾投資 （</a:t>
                      </a:r>
                      <a:r>
                        <a:rPr lang="en-US" altLang="zh-TW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9981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沃尔核材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360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127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江西省政府 （江西铜业）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惠州国资委 （惠州惠联）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山东发展投资控股集团 （国惠香港）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璞信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深圳新宙邦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上海景林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深圳新世界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高时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Korea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SCV Alpha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Gallatlion Resources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Yield Royal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易亚投资管理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前海辰星投资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737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0470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先导智能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631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欧万达基金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无锡金筹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国泰海通）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804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0600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爱芯元智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379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185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（JSC International</a:t>
                      </a:r>
                      <a:b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Investment Fund SPC） （27）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雅戈尔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德赛西威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均胜电子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豪恩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TRS-CICC FT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观澜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进益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5895740"/>
            <a:ext cx="317972" cy="286620"/>
          </a:xfrm>
          <a:prstGeom prst="rect">
            <a:avLst/>
          </a:prstGeom>
        </p:spPr>
      </p:pic>
      <p:pic>
        <p:nvPicPr>
          <p:cNvPr id="10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264962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1025" y="661670"/>
          <a:ext cx="11098530" cy="6016944"/>
        </p:xfrm>
        <a:graphic>
          <a:graphicData uri="http://schemas.openxmlformats.org/drawingml/2006/table">
            <a:tbl>
              <a:tblPr/>
              <a:tblGrid>
                <a:gridCol w="534670"/>
                <a:gridCol w="515620"/>
                <a:gridCol w="629285"/>
                <a:gridCol w="508000"/>
                <a:gridCol w="575310"/>
                <a:gridCol w="487680"/>
                <a:gridCol w="330200"/>
                <a:gridCol w="1440815"/>
                <a:gridCol w="1453515"/>
                <a:gridCol w="423545"/>
                <a:gridCol w="1213485"/>
                <a:gridCol w="2458085"/>
                <a:gridCol w="528320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2026-02-06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河南省国资委（香港豫农国际）（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2026-02-09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2026-02-06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（宏兴国际）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（通过中金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2026-02-04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（利冠）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10.26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14.11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5.13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1.92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2026-02-03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Al-Rayyan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 Investment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（太白及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Company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Great China Motivation Fund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2026-01-28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612140"/>
          <a:ext cx="11155680" cy="5907883"/>
        </p:xfrm>
        <a:graphic>
          <a:graphicData uri="http://schemas.openxmlformats.org/drawingml/2006/table">
            <a:tbl>
              <a:tblPr/>
              <a:tblGrid>
                <a:gridCol w="591820"/>
                <a:gridCol w="515620"/>
                <a:gridCol w="628650"/>
                <a:gridCol w="570230"/>
                <a:gridCol w="548640"/>
                <a:gridCol w="452120"/>
                <a:gridCol w="330835"/>
                <a:gridCol w="1572895"/>
                <a:gridCol w="1169035"/>
                <a:gridCol w="1226185"/>
                <a:gridCol w="1434465"/>
                <a:gridCol w="1586230"/>
                <a:gridCol w="52895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2026-01-22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（8）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国泰君安）（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871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2026-01-13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871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Growth Ventures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（30）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（10）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（8）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（2）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804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TW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zh-TW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2.42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Sabre） （20）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（10）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（12.1）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（10）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（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（20）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（4）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（10.1）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60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  <a:endParaRPr lang="zh-CN" altLang="en-US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559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384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北京市国资委（璟泉启智（北京））（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进益（天津）资产管理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44.9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30860"/>
          <a:ext cx="11155680" cy="6002656"/>
        </p:xfrm>
        <a:graphic>
          <a:graphicData uri="http://schemas.openxmlformats.org/drawingml/2006/table">
            <a:tbl>
              <a:tblPr/>
              <a:tblGrid>
                <a:gridCol w="591820"/>
                <a:gridCol w="515620"/>
                <a:gridCol w="628650"/>
                <a:gridCol w="570230"/>
                <a:gridCol w="548640"/>
                <a:gridCol w="452120"/>
                <a:gridCol w="330835"/>
                <a:gridCol w="1572895"/>
                <a:gridCol w="1169035"/>
                <a:gridCol w="1226185"/>
                <a:gridCol w="1434465"/>
                <a:gridCol w="1586230"/>
                <a:gridCol w="528955"/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1336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zh-CN" altLang="en-US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</a:tr>
              <a:tr h="5803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2026-01-12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0501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豪威集团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617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279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宁波国资委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JSC International Investment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浦东科创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25.71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33.68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2026-01-09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0100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MINIMAX-WP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626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350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56%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保诚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天壹资产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2026-01-08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2675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精锋医疗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154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Infini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盘京投资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蔡东晨（石药集团执行董事长）（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472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2026-01-02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6082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壁仞科技</a:t>
                      </a:r>
                      <a:endParaRPr lang="zh-CN" altLang="en-US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  <a:endParaRPr lang="en-US" altLang="zh-CN" sz="700" b="0" i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718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373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52%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神州数码（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亿都 (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Yeebo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)（6.5）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Fund（80）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启明创投（35）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Aspex（30）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WT（30）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Capital&amp;Hao Advisors（20）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平安集团 (平安人寿保险)（15）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 Technology（15）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华侨银行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Lion Global)（15）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(TRS-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景林)（15）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MY.Alpha（12）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保诚（10）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GAM（10）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泰康保险 (泰康人寿)（10）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Aspirational China Growth（10）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Charoen Pokphand（10）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国泰海通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中和)（8）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南方基金（8）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富国基金（8）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EIP（5）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Tessy（5）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华福证券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New Opportunities SPC)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0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0081" y="3469850"/>
            <a:ext cx="317972" cy="286620"/>
          </a:xfrm>
          <a:prstGeom prst="rect">
            <a:avLst/>
          </a:prstGeom>
        </p:spPr>
      </p:pic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截至2026年9月21日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6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661" y="107508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884*279"/>
  <p:tag name="TABLE_ENDDRAG_RECT" val="45*73*884*279"/>
</p:tagLst>
</file>

<file path=ppt/tags/tag3.xml><?xml version="1.0" encoding="utf-8"?>
<p:tagLst xmlns:p="http://schemas.openxmlformats.org/presentationml/2006/main">
  <p:tag name="TABLE_ENDDRAG_ORIGIN_RECT" val="884*289"/>
  <p:tag name="TABLE_ENDDRAG_RECT" val="45*56*884*289"/>
</p:tagLst>
</file>

<file path=ppt/tags/tag4.xml><?xml version="1.0" encoding="utf-8"?>
<p:tagLst xmlns:p="http://schemas.openxmlformats.org/presentationml/2006/main">
  <p:tag name="TABLE_ENDDRAG_ORIGIN_RECT" val="883*417"/>
  <p:tag name="TABLE_ENDDRAG_RECT" val="46*48*883*417"/>
</p:tagLst>
</file>

<file path=ppt/tags/tag5.xml><?xml version="1.0" encoding="utf-8"?>
<p:tagLst xmlns:p="http://schemas.openxmlformats.org/presentationml/2006/main">
  <p:tag name="TABLE_ENDDRAG_ORIGIN_RECT" val="884*446"/>
  <p:tag name="TABLE_ENDDRAG_RECT" val="42*52*884*446"/>
</p:tagLst>
</file>

<file path=ppt/tags/tag6.xml><?xml version="1.0" encoding="utf-8"?>
<p:tagLst xmlns:p="http://schemas.openxmlformats.org/presentationml/2006/main">
  <p:tag name="TABLE_ENDDRAG_ORIGIN_RECT" val="880*326"/>
  <p:tag name="TABLE_ENDDRAG_RECT" val="41*51*880*326"/>
</p:tagLst>
</file>

<file path=ppt/tags/tag7.xml><?xml version="1.0" encoding="utf-8"?>
<p:tagLst xmlns:p="http://schemas.openxmlformats.org/presentationml/2006/main">
  <p:tag name="TABLE_ENDDRAG_ORIGIN_RECT" val="899*465"/>
  <p:tag name="TABLE_ENDDRAG_RECT" val="41*43*899*465"/>
</p:tagLst>
</file>

<file path=ppt/tags/tag8.xml><?xml version="1.0" encoding="utf-8"?>
<p:tagLst xmlns:p="http://schemas.openxmlformats.org/presentationml/2006/main">
  <p:tag name="TABLE_ENDDRAG_ORIGIN_RECT" val="899*383"/>
  <p:tag name="TABLE_ENDDRAG_RECT" val="41*45*899*383"/>
</p:tagLst>
</file>

<file path=ppt/tags/tag9.xml><?xml version="1.0" encoding="utf-8"?>
<p:tagLst xmlns:p="http://schemas.openxmlformats.org/presentationml/2006/main">
  <p:tag name="TABLE_ENDDRAG_ORIGIN_RECT" val="877*271"/>
  <p:tag name="TABLE_ENDDRAG_RECT" val="50*62*877*271"/>
</p:tagLst>
</file>

<file path=ppt/tags/tag10.xml><?xml version="1.0" encoding="utf-8"?>
<p:tagLst xmlns:p="http://schemas.openxmlformats.org/presentationml/2006/main">
  <p:tag name="TABLE_ENDDRAG_ORIGIN_RECT" val="878*448"/>
  <p:tag name="TABLE_ENDDRAG_RECT" val="41*62*878*449"/>
</p:tagLst>
</file>

<file path=ppt/tags/tag11.xml><?xml version="1.0" encoding="utf-8"?>
<p:tagLst xmlns:p="http://schemas.openxmlformats.org/presentationml/2006/main">
  <p:tag name="TABLE_ENDDRAG_ORIGIN_RECT" val="894*465"/>
  <p:tag name="TABLE_ENDDRAG_RECT" val="30*38*894*465"/>
</p:tagLst>
</file>

<file path=ppt/tags/tag12.xml><?xml version="1.0" encoding="utf-8"?>
<p:tagLst xmlns:p="http://schemas.openxmlformats.org/presentationml/2006/main">
  <p:tag name="TABLE_ENDDRAG_ORIGIN_RECT" val="894*479"/>
  <p:tag name="TABLE_ENDDRAG_RECT" val="30*38*894*479"/>
</p:tagLst>
</file>

<file path=ppt/tags/tag13.xml><?xml version="1.0" encoding="utf-8"?>
<p:tagLst xmlns:p="http://schemas.openxmlformats.org/presentationml/2006/main">
  <p:tag name="TABLE_ENDDRAG_ORIGIN_RECT" val="877*492"/>
  <p:tag name="TABLE_ENDDRAG_RECT" val="41*27*877*492"/>
</p:tagLst>
</file>

<file path=ppt/tags/tag14.xml><?xml version="1.0" encoding="utf-8"?>
<p:tagLst xmlns:p="http://schemas.openxmlformats.org/presentationml/2006/main">
  <p:tag name="TABLE_ENDDRAG_ORIGIN_RECT" val="878*432"/>
  <p:tag name="TABLE_ENDDRAG_RECT" val="41*44*878*432"/>
</p:tagLst>
</file>

<file path=ppt/tags/tag15.xml><?xml version="1.0" encoding="utf-8"?>
<p:tagLst xmlns:p="http://schemas.openxmlformats.org/presentationml/2006/main">
  <p:tag name="TABLE_ENDDRAG_ORIGIN_RECT" val="873*327"/>
  <p:tag name="TABLE_ENDDRAG_RECT" val="45*52*873*328"/>
</p:tagLst>
</file>

<file path=ppt/tags/tag16.xml><?xml version="1.0" encoding="utf-8"?>
<p:tagLst xmlns:p="http://schemas.openxmlformats.org/presentationml/2006/main">
  <p:tag name="TABLE_ENDDRAG_ORIGIN_RECT" val="878*344"/>
  <p:tag name="TABLE_ENDDRAG_RECT" val="41*48*878*344"/>
</p:tagLst>
</file>

<file path=ppt/tags/tag17.xml><?xml version="1.0" encoding="utf-8"?>
<p:tagLst xmlns:p="http://schemas.openxmlformats.org/presentationml/2006/main">
  <p:tag name="TABLE_ENDDRAG_ORIGIN_RECT" val="878*449"/>
  <p:tag name="TABLE_ENDDRAG_RECT" val="41*48*878*44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19412</Words>
  <Application>WPS 演示</Application>
  <PresentationFormat>宽屏</PresentationFormat>
  <Paragraphs>3223</Paragraphs>
  <Slides>16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楷体</vt:lpstr>
      <vt:lpstr>Calibri</vt:lpstr>
      <vt:lpstr>Arial Unicode MS</vt:lpstr>
      <vt:lpstr>Calibri</vt:lpstr>
      <vt:lpstr>Arial Unicode MS</vt:lpstr>
      <vt:lpstr>等线</vt:lpstr>
      <vt:lpstr>Office 主题​​</vt:lpstr>
      <vt:lpstr>1</vt:lpstr>
      <vt:lpstr>2026年至今发行1亿美元港股IPO项目基石投资情况概览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叶骏宇</cp:lastModifiedBy>
  <cp:revision>236</cp:revision>
  <dcterms:created xsi:type="dcterms:W3CDTF">2026-01-07T08:09:00Z</dcterms:created>
  <dcterms:modified xsi:type="dcterms:W3CDTF">2026-09-21T08:05:53Z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14D584663B21457BB83B38FFE675927D_13</vt:lpwstr>
  </property>
  <property fmtid="{D5CDD505-2E9C-101B-9397-08002B2CF9AE}" pid="3" name="KSOProductBuildVer">
    <vt:lpwstr>2052-12.1.0.28505</vt:lpwstr>
  </property>
</Properties>
</file>