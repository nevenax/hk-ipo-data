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16776610" r:id="rId3"/>
    <p:sldId id="16776611" r:id="rId4"/>
    <p:sldId id="16776607" r:id="rId5"/>
    <p:sldId id="16776609" r:id="rId6"/>
    <p:sldId id="16776608" r:id="rId7"/>
    <p:sldId id="16776604" r:id="rId8"/>
    <p:sldId id="16776355" r:id="rId9"/>
    <p:sldId id="16776600" r:id="rId10"/>
    <p:sldId id="16776594" r:id="rId11"/>
    <p:sldId id="16776595" r:id="rId12"/>
    <p:sldId id="16776596" r:id="rId13"/>
    <p:sldId id="1677659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0" autoAdjust="0"/>
    <p:restoredTop sz="96331" autoAdjust="0"/>
  </p:normalViewPr>
  <p:slideViewPr>
    <p:cSldViewPr snapToGrid="0">
      <p:cViewPr varScale="1">
        <p:scale>
          <a:sx n="109" d="100"/>
          <a:sy n="109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77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91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51978"/>
              </p:ext>
            </p:extLst>
          </p:nvPr>
        </p:nvGraphicFramePr>
        <p:xfrm>
          <a:off x="536288" y="933646"/>
          <a:ext cx="11229317" cy="5910824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776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412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Schroder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Aspex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信安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PFG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15.04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高瓴（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Jane Street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WT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惠理（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7908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鲟龙科技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贝莱德（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Barings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Nova Kerry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ACCF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Mirae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36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3952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Oaktree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明山资本（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嘉实国际（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CDH 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鼎晖（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Eurus（Orix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清池资本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Lake Bleu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Dream‘ee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Factorial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50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2026-06-30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6915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江西生物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抗血清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6.38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 Unicode MS"/>
                        <a:ea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富策控股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(6.38)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996190"/>
                  </a:ext>
                </a:extLst>
              </a:tr>
              <a:tr h="617509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2026-06-29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白鸽在线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保险数字化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 Unicode MS"/>
                        <a:ea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GLY New Mobility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1.3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  <a:endParaRPr lang="en-US" altLang="zh-CN" sz="8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柯家琪先生（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1.3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8933"/>
                  </a:ext>
                </a:extLst>
              </a:tr>
              <a:tr h="8885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81.51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腾讯（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正心谷（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3.51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GIC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22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Loomis Sayles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RTW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Symbiosis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Cormorant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Dymon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广发基金（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汇添富（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37050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1191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99.24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JSC International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金山云（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双赢科技（佰维存储）（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26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20.37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10.18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57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发行规模在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43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38%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0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154560"/>
              </p:ext>
            </p:extLst>
          </p:nvPr>
        </p:nvGraphicFramePr>
        <p:xfrm>
          <a:off x="523880" y="649481"/>
          <a:ext cx="11186777" cy="5691082"/>
        </p:xfrm>
        <a:graphic>
          <a:graphicData uri="http://schemas.openxmlformats.org/drawingml/2006/table">
            <a:tbl>
              <a:tblPr/>
              <a:tblGrid>
                <a:gridCol w="5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805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MERDEKAGOLD-DRS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托克集团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开元矿业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万国黄金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嘉能可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摩科瑞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中伟股份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0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3661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圣邦股份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Ocean Fine Industrial(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软通动力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Sentier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Continent(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洲证券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45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1054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406.9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荣耀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宏科技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舜宇光学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(32)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Ti-Capital Funds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03276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207.01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胜宏科技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海燿实业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芯耀投资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)(21)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)(8)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永联投资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永卓控股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Monterey Park(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臻鼎科技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)(9.51)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AM(20)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Lion Global(18)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Victorious(10.5)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2026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年至今港股发行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亿美元以上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IPO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项目基石投资情况概览（续）</a:t>
            </a: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584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965698"/>
              </p:ext>
            </p:extLst>
          </p:nvPr>
        </p:nvGraphicFramePr>
        <p:xfrm>
          <a:off x="347036" y="521208"/>
          <a:ext cx="11425030" cy="6336792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7419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897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716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68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956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Enhanced Income Fund(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AMC)(6)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17656"/>
                  </a:ext>
                </a:extLst>
              </a:tr>
              <a:tr h="3973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2335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麦科医药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启源香港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山西省国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)(44.38)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云顶新耀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桥资本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顺鸣资本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7860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6106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元宝家办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瑞华投资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(ACCF)(2)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611"/>
                  </a:ext>
                </a:extLst>
              </a:tr>
              <a:tr h="10775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欣旺达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(2.42)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晶科能源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富国基金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(7.7)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淡水泉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高腾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中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TRS)(3)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Mondeomax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(13)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Bona Star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(9.75)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深三和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SHEEN NATION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陈峰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5366"/>
                  </a:ext>
                </a:extLst>
              </a:tr>
              <a:tr h="49451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凯博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宣城市国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)(25)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睿远基金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清池资本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Sage Partners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盘京基金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70692"/>
                  </a:ext>
                </a:extLst>
              </a:tr>
              <a:tr h="50939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2026-6-15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溜溜梅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休闲食品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19.12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Fanchang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 Revitalization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（芜湖市繁昌区财政局）（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9.12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达隆（分众传媒）（</a:t>
                      </a:r>
                      <a:r>
                        <a:rPr lang="en-US" altLang="zh-CN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404963"/>
                  </a:ext>
                </a:extLst>
              </a:tr>
              <a:tr h="7860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保隆汽车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)(3.06)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(9.57)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Su)(2.04)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李锋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)(3.90)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庄家颖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)(2.60)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331815"/>
                  </a:ext>
                </a:extLst>
              </a:tr>
              <a:tr h="98036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FRM(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张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国锋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2300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71EB168-4FA7-42A0-81B4-1591AF62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4881123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92DF1599-92B3-4D1B-9D1E-E55D3DB7A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5934764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26995"/>
              </p:ext>
            </p:extLst>
          </p:nvPr>
        </p:nvGraphicFramePr>
        <p:xfrm>
          <a:off x="523880" y="582430"/>
          <a:ext cx="11425030" cy="5521554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792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(45.5)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(5.07)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(22.01)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(29.08)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(</a:t>
                      </a:r>
                      <a:r>
                        <a:rPr 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)(3.86)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776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通过华泰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TRS)(12.25)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(9.99)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WWHCP(Exome)(1)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上弦月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1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Avenue(IDG)(5)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8301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9357BD0-D14A-4422-8A74-0E361ADE199E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17">
            <a:extLst>
              <a:ext uri="{FF2B5EF4-FFF2-40B4-BE49-F238E27FC236}">
                <a16:creationId xmlns:a16="http://schemas.microsoft.com/office/drawing/2014/main" id="{EDBBC21B-DB0B-46F0-A78A-31234DFCC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158401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5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5333"/>
              </p:ext>
            </p:extLst>
          </p:nvPr>
        </p:nvGraphicFramePr>
        <p:xfrm>
          <a:off x="523878" y="799153"/>
          <a:ext cx="11425030" cy="5399175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诸暨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市财政局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)(36.01)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4324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雨花区政府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)(6.99)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TRS)(6.51)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12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SP)(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亦庄财政国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(Mega Prime &amp;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 Platinum)(7)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(31.57)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)(4.3)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上海中移基金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未来资产证券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8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艾唯技术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Aurora SF(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晶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合集成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)(25)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建滔投资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香港君正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JinYi 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39580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EE8A92A-FB53-431C-A9F9-639FD550EB5F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38709"/>
              </p:ext>
            </p:extLst>
          </p:nvPr>
        </p:nvGraphicFramePr>
        <p:xfrm>
          <a:off x="634703" y="788277"/>
          <a:ext cx="11146632" cy="4093077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718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(28.75)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TCL(20)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正大集团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鲁花道生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(53)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9804" y="2583627"/>
            <a:ext cx="423963" cy="38216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AA9F5453-C8ED-43A9-8C0D-1C7E36A61A8F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78874"/>
              </p:ext>
            </p:extLst>
          </p:nvPr>
        </p:nvGraphicFramePr>
        <p:xfrm>
          <a:off x="524044" y="792560"/>
          <a:ext cx="11155634" cy="439054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未来香港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钟鼎资本八期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宁远资本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源码资本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(1.73)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招证投资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上海陆家嘴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浦东国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安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TRS) (28.89)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正大机器人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Aranda Investments(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太保资管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HuadengTechnology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</a:tbl>
          </a:graphicData>
        </a:graphic>
      </p:graphicFrame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B3B22093-A344-4397-9CA0-C39E6E3F3791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8087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50489"/>
              </p:ext>
            </p:extLst>
          </p:nvPr>
        </p:nvGraphicFramePr>
        <p:xfrm>
          <a:off x="383484" y="630281"/>
          <a:ext cx="11357949" cy="5890520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全顺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顺德国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)(3.2)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灏浚投资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TRS)(5.8)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Eternal Summer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Shrewd Pioneer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 Technology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晟信集团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厦门先进制造业基金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(100.72)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it-IT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名幸电子香港有限公司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锐明电子有限公司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宝月湖深产投共赢企业管理有限公司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清华教育基金会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开盘财富管理有限公司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周增昌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太湖金谷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 Technology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联城集团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拓斯达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 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 Trading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双诚资本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通过建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投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恒邦私募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雾淞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万源资本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1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亨通光电国际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至源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裕祥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网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誉科技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Harvest Oriental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前海合眾投資 </a:t>
                      </a:r>
                      <a:r>
                        <a:rPr lang="en-US" altLang="zh-TW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江西省政府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铜业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(25.7)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山东发展投资控股集团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璞信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深圳新宙邦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深圳新世界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高时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Korea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Alpha) (3.5)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Gallatlion Resources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易亚投资管理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前海辰星投资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36371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2464520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4989286"/>
            <a:ext cx="317972" cy="286620"/>
          </a:xfrm>
          <a:prstGeom prst="rect">
            <a:avLst/>
          </a:prstGeom>
        </p:spPr>
      </p:pic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8108C80F-3BA1-4AB1-A5DB-6D42BA358179}"/>
              </a:ext>
            </a:extLst>
          </p:cNvPr>
          <p:cNvSpPr txBox="1"/>
          <p:nvPr/>
        </p:nvSpPr>
        <p:spPr>
          <a:xfrm>
            <a:off x="245480" y="6590026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6612"/>
              </p:ext>
            </p:extLst>
          </p:nvPr>
        </p:nvGraphicFramePr>
        <p:xfrm>
          <a:off x="529839" y="749910"/>
          <a:ext cx="11149839" cy="4859779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210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0470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欧万达基金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无锡金筹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国泰海通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Investment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Fund SPC) (27)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雅戈尔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德赛西威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均胜电子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TRS-CICC FT)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香港豫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农国际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4883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848929"/>
            <a:ext cx="317972" cy="28662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83E8DC6A-CD47-4647-AA1D-063A6653EB9C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738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08687"/>
              </p:ext>
            </p:extLst>
          </p:nvPr>
        </p:nvGraphicFramePr>
        <p:xfrm>
          <a:off x="524044" y="595246"/>
          <a:ext cx="11155634" cy="5837176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兴国际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</a:t>
                      </a:r>
                      <a:r>
                        <a:rPr lang="zh-CN" altLang="en-US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en-US" altLang="zh-CN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利冠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(10.26)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(14.11)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(1.92)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(Al-Rayyan)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(Huang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River Investment)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太白及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Light) 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 Company)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(Great China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Motivation Fund)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272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(OPPO)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(CPE) 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(29.7)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(GBAD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96692"/>
                  </a:ext>
                </a:extLst>
              </a:tr>
            </a:tbl>
          </a:graphicData>
        </a:graphic>
      </p:graphicFrame>
      <p:sp>
        <p:nvSpPr>
          <p:cNvPr id="7" name="文字版面配置區 3">
            <a:extLst>
              <a:ext uri="{FF2B5EF4-FFF2-40B4-BE49-F238E27FC236}">
                <a16:creationId xmlns:a16="http://schemas.microsoft.com/office/drawing/2014/main" id="{6B0A5A3F-3234-47B1-B39F-D182FC5E65AF}"/>
              </a:ext>
            </a:extLst>
          </p:cNvPr>
          <p:cNvSpPr txBox="1"/>
          <p:nvPr/>
        </p:nvSpPr>
        <p:spPr>
          <a:xfrm>
            <a:off x="419933" y="6501590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57701"/>
              </p:ext>
            </p:extLst>
          </p:nvPr>
        </p:nvGraphicFramePr>
        <p:xfrm>
          <a:off x="581114" y="712616"/>
          <a:ext cx="11098564" cy="504968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2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Growth Ventures)(10)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(2.97)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(JSC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International Investment) 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(25.71)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(33.68)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浦东科创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(17)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(3.6)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璟泉启智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))(179)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天津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资产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(44.9)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5945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200886"/>
            <a:ext cx="317972" cy="286620"/>
          </a:xfrm>
          <a:prstGeom prst="rect">
            <a:avLst/>
          </a:prstGeom>
        </p:spPr>
      </p:pic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74D28386-8EE7-4D9D-96DC-3292C8A53485}"/>
              </a:ext>
            </a:extLst>
          </p:cNvPr>
          <p:cNvSpPr txBox="1"/>
          <p:nvPr/>
        </p:nvSpPr>
        <p:spPr>
          <a:xfrm>
            <a:off x="419933" y="6628215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69526"/>
              </p:ext>
            </p:extLst>
          </p:nvPr>
        </p:nvGraphicFramePr>
        <p:xfrm>
          <a:off x="524044" y="611823"/>
          <a:ext cx="11155634" cy="311228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Master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Martis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Infini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蔡东晨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石药集团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执行董事长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2914040"/>
            <a:ext cx="317972" cy="286620"/>
          </a:xfrm>
          <a:prstGeom prst="rect">
            <a:avLst/>
          </a:prstGeom>
        </p:spPr>
      </p:pic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id="{35E73CA2-DCDB-4314-988B-DE6A1D9812CD}"/>
              </a:ext>
            </a:extLst>
          </p:cNvPr>
          <p:cNvSpPr txBox="1"/>
          <p:nvPr/>
        </p:nvSpPr>
        <p:spPr>
          <a:xfrm>
            <a:off x="419933" y="6450789"/>
            <a:ext cx="11425031" cy="32725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7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5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6449</Words>
  <Application>Microsoft Office PowerPoint</Application>
  <PresentationFormat>宽屏</PresentationFormat>
  <Paragraphs>1342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 Unicode MS</vt:lpstr>
      <vt:lpstr>等线</vt:lpstr>
      <vt:lpstr>等线 Light</vt:lpstr>
      <vt:lpstr>微软雅黑</vt:lpstr>
      <vt:lpstr>Arial</vt:lpstr>
      <vt:lpstr>Calibri</vt:lpstr>
      <vt:lpstr>Office 主题​​</vt:lpstr>
      <vt:lpstr>1</vt:lpstr>
      <vt:lpstr>2026年至今发行1亿美元港股IPO项目基石投资情况概览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YAXIN FAN</cp:lastModifiedBy>
  <cp:revision>176</cp:revision>
  <dcterms:created xsi:type="dcterms:W3CDTF">2026-01-07T08:09:00Z</dcterms:created>
  <dcterms:modified xsi:type="dcterms:W3CDTF">2026-07-06T12:53:54Z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