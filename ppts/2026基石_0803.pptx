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sldIdLst>
    <p:sldId id="16776610" r:id="rId3"/>
    <p:sldId id="16776615" r:id="rId4"/>
    <p:sldId id="16776613" r:id="rId5"/>
    <p:sldId id="16776612" r:id="rId6"/>
    <p:sldId id="16776611" r:id="rId7"/>
    <p:sldId id="16776607" r:id="rId8"/>
    <p:sldId id="16776609" r:id="rId9"/>
    <p:sldId id="16776608" r:id="rId10"/>
    <p:sldId id="16776604" r:id="rId11"/>
    <p:sldId id="16776355" r:id="rId12"/>
    <p:sldId id="16776600" r:id="rId13"/>
    <p:sldId id="16776594" r:id="rId14"/>
    <p:sldId id="16776595" r:id="rId15"/>
    <p:sldId id="16776596" r:id="rId16"/>
    <p:sldId id="1677659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6509" autoAdjust="0"/>
  </p:normalViewPr>
  <p:slideViewPr>
    <p:cSldViewPr snapToGrid="0">
      <p:cViewPr varScale="1">
        <p:scale>
          <a:sx n="66" d="100"/>
          <a:sy n="66" d="100"/>
        </p:scale>
        <p:origin x="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C6641-97E6-47EA-912F-E64FEBF9962D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76415-7E6E-4C6F-9DDF-615A88553A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145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80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323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35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770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591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76415-7E6E-4C6F-9DDF-615A88553A8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658" y="114819"/>
            <a:ext cx="1350000" cy="6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占位符 3"/>
          <p:cNvSpPr>
            <a:spLocks noGrp="1"/>
          </p:cNvSpPr>
          <p:nvPr>
            <p:ph type="title"/>
          </p:nvPr>
        </p:nvSpPr>
        <p:spPr>
          <a:xfrm>
            <a:off x="6435232" y="2891723"/>
            <a:ext cx="523289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2850" kern="1200" dirty="0">
                <a:solidFill>
                  <a:srgbClr val="CBBAA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marL="0" lvl="0" defTabSz="685800" rtl="0" eaLnBrk="1" latinLnBrk="0" hangingPunct="1"/>
            <a:r>
              <a:rPr lang="zh-TW" altLang="en-US"/>
              <a:t>按一下以編輯母片標題樣式</a:t>
            </a:r>
            <a:endParaRPr lang="zh-CN" altLang="en-US" dirty="0"/>
          </a:p>
        </p:txBody>
      </p:sp>
      <p:grpSp>
        <p:nvGrpSpPr>
          <p:cNvPr id="6" name="群組 5"/>
          <p:cNvGrpSpPr/>
          <p:nvPr userDrawn="1"/>
        </p:nvGrpSpPr>
        <p:grpSpPr>
          <a:xfrm>
            <a:off x="10481" y="567001"/>
            <a:ext cx="12192000" cy="5975935"/>
            <a:chOff x="0" y="640715"/>
            <a:chExt cx="12186920" cy="5973445"/>
          </a:xfrm>
        </p:grpSpPr>
        <p:pic>
          <p:nvPicPr>
            <p:cNvPr id="7" name="图片 3" descr="7c3acec9dfe64eaf469ebff944bb0aa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231775" y="640715"/>
              <a:ext cx="6200775" cy="5836920"/>
            </a:xfrm>
            <a:prstGeom prst="rect">
              <a:avLst/>
            </a:prstGeom>
          </p:spPr>
        </p:pic>
        <p:pic>
          <p:nvPicPr>
            <p:cNvPr id="11" name="图片 4" descr="3f435ed58749c85aed0ed306de18211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5506720" y="5234305"/>
              <a:ext cx="529590" cy="531495"/>
            </a:xfrm>
            <a:prstGeom prst="rect">
              <a:avLst/>
            </a:prstGeom>
          </p:spPr>
        </p:pic>
        <p:pic>
          <p:nvPicPr>
            <p:cNvPr id="12" name="图片 11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20820000">
              <a:off x="8412480" y="881380"/>
              <a:ext cx="1483360" cy="490855"/>
            </a:xfrm>
            <a:prstGeom prst="rect">
              <a:avLst/>
            </a:prstGeom>
          </p:spPr>
        </p:pic>
        <p:pic>
          <p:nvPicPr>
            <p:cNvPr id="13" name="图片 13" descr="元素3"/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7275195" y="2614295"/>
              <a:ext cx="4911725" cy="822960"/>
            </a:xfrm>
            <a:prstGeom prst="rect">
              <a:avLst/>
            </a:prstGeom>
          </p:spPr>
        </p:pic>
        <p:pic>
          <p:nvPicPr>
            <p:cNvPr id="14" name="图片 14" descr="元素4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0" y="5806440"/>
              <a:ext cx="5120640" cy="807720"/>
            </a:xfrm>
            <a:prstGeom prst="rect">
              <a:avLst/>
            </a:prstGeom>
          </p:spPr>
        </p:pic>
      </p:grpSp>
      <p:pic>
        <p:nvPicPr>
          <p:cNvPr id="18" name="图片 17" descr="文本&#10;&#10;描述已自动生成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1678" y="71365"/>
            <a:ext cx="2916274" cy="7405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695" y="60126"/>
            <a:ext cx="1128650" cy="5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手繪多邊形: 圖案 48"/>
          <p:cNvSpPr/>
          <p:nvPr userDrawn="1"/>
        </p:nvSpPr>
        <p:spPr>
          <a:xfrm>
            <a:off x="5043488" y="5072063"/>
            <a:ext cx="742950" cy="885825"/>
          </a:xfrm>
          <a:custGeom>
            <a:avLst/>
            <a:gdLst>
              <a:gd name="connsiteX0" fmla="*/ 0 w 990600"/>
              <a:gd name="connsiteY0" fmla="*/ 1181100 h 1181100"/>
              <a:gd name="connsiteX1" fmla="*/ 990600 w 990600"/>
              <a:gd name="connsiteY1" fmla="*/ 0 h 118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90600" h="1181100">
                <a:moveTo>
                  <a:pt x="0" y="1181100"/>
                </a:moveTo>
                <a:lnTo>
                  <a:pt x="990600" y="0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350"/>
          </a:p>
        </p:txBody>
      </p:sp>
      <p:sp>
        <p:nvSpPr>
          <p:cNvPr id="6" name="任意多边形 14"/>
          <p:cNvSpPr/>
          <p:nvPr userDrawn="1"/>
        </p:nvSpPr>
        <p:spPr>
          <a:xfrm>
            <a:off x="0" y="2058750"/>
            <a:ext cx="81000" cy="1026000"/>
          </a:xfrm>
          <a:custGeom>
            <a:avLst/>
            <a:gdLst>
              <a:gd name="connsiteX0" fmla="*/ 0 w 108000"/>
              <a:gd name="connsiteY0" fmla="*/ 0 h 1368000"/>
              <a:gd name="connsiteX1" fmla="*/ 108000 w 108000"/>
              <a:gd name="connsiteY1" fmla="*/ 108000 h 1368000"/>
              <a:gd name="connsiteX2" fmla="*/ 108000 w 108000"/>
              <a:gd name="connsiteY2" fmla="*/ 1260000 h 1368000"/>
              <a:gd name="connsiteX3" fmla="*/ 0 w 108000"/>
              <a:gd name="connsiteY3" fmla="*/ 1368000 h 1368000"/>
              <a:gd name="connsiteX4" fmla="*/ 0 w 108000"/>
              <a:gd name="connsiteY4" fmla="*/ 0 h 13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00" h="1368000">
                <a:moveTo>
                  <a:pt x="0" y="0"/>
                </a:moveTo>
                <a:cubicBezTo>
                  <a:pt x="59647" y="0"/>
                  <a:pt x="108000" y="48353"/>
                  <a:pt x="108000" y="108000"/>
                </a:cubicBezTo>
                <a:lnTo>
                  <a:pt x="108000" y="1260000"/>
                </a:lnTo>
                <a:cubicBezTo>
                  <a:pt x="108000" y="1319647"/>
                  <a:pt x="59647" y="1368000"/>
                  <a:pt x="0" y="1368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600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7" name="图片 9" descr="元素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3389" y="1960722"/>
            <a:ext cx="6708613" cy="1124029"/>
          </a:xfrm>
          <a:prstGeom prst="rect">
            <a:avLst/>
          </a:prstGeom>
        </p:spPr>
      </p:pic>
      <p:pic>
        <p:nvPicPr>
          <p:cNvPr id="9" name="图片 8" descr="文本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0001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494" y="326709"/>
            <a:ext cx="11146526" cy="306323"/>
          </a:xfrm>
          <a:prstGeom prst="rect">
            <a:avLst/>
          </a:prstGeom>
        </p:spPr>
        <p:txBody>
          <a:bodyPr anchor="t"/>
          <a:lstStyle>
            <a:lvl1pPr>
              <a:defRPr lang="zh-CN" altLang="en-US" sz="2550" b="1" kern="1200" dirty="0">
                <a:solidFill>
                  <a:schemeClr val="tx2"/>
                </a:solidFill>
                <a:latin typeface="+mn-lt"/>
                <a:ea typeface="微软雅黑" panose="020B0503020204020204" charset="-122"/>
                <a:cs typeface="+mn-cs"/>
              </a:defRPr>
            </a:lvl1pPr>
          </a:lstStyle>
          <a:p>
            <a:pPr marL="0" lvl="0" algn="l" defTabSz="685800" rtl="0" eaLnBrk="1" latinLnBrk="0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3" name="图片 1" descr="df25869d23a7510bce60f95f48d5bd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30480" y="326709"/>
            <a:ext cx="132398" cy="570071"/>
          </a:xfrm>
          <a:prstGeom prst="rect">
            <a:avLst/>
          </a:prstGeom>
        </p:spPr>
      </p:pic>
      <p:grpSp>
        <p:nvGrpSpPr>
          <p:cNvPr id="9" name="群組 8"/>
          <p:cNvGrpSpPr/>
          <p:nvPr userDrawn="1"/>
        </p:nvGrpSpPr>
        <p:grpSpPr>
          <a:xfrm>
            <a:off x="0" y="872014"/>
            <a:ext cx="12192000" cy="5408930"/>
            <a:chOff x="0" y="1162685"/>
            <a:chExt cx="12192000" cy="5408930"/>
          </a:xfrm>
        </p:grpSpPr>
        <p:pic>
          <p:nvPicPr>
            <p:cNvPr id="10" name="图片 2" descr="元素2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442960" y="1162685"/>
              <a:ext cx="3749040" cy="1231265"/>
            </a:xfrm>
            <a:prstGeom prst="rect">
              <a:avLst/>
            </a:prstGeom>
          </p:spPr>
        </p:pic>
        <p:pic>
          <p:nvPicPr>
            <p:cNvPr id="11" name="图片 3" descr="元素1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5681345"/>
              <a:ext cx="5796915" cy="890270"/>
            </a:xfrm>
            <a:prstGeom prst="rect">
              <a:avLst/>
            </a:prstGeom>
          </p:spPr>
        </p:pic>
      </p:grpSp>
      <p:sp>
        <p:nvSpPr>
          <p:cNvPr id="13" name="bk object 20"/>
          <p:cNvSpPr/>
          <p:nvPr userDrawn="1"/>
        </p:nvSpPr>
        <p:spPr>
          <a:xfrm>
            <a:off x="11579354" y="6547105"/>
            <a:ext cx="612647" cy="310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lang="en-US" altLang="zh-CN" sz="1350" smtClean="0">
                <a:solidFill>
                  <a:schemeClr val="tx1"/>
                </a:solidFill>
              </a:rPr>
              <a:t>‹#›</a:t>
            </a:fld>
            <a:endParaRPr lang="en-US" altLang="zh-CN" sz="1350" dirty="0">
              <a:solidFill>
                <a:schemeClr val="tx1"/>
              </a:solidFill>
            </a:endParaRPr>
          </a:p>
        </p:txBody>
      </p:sp>
      <p:pic>
        <p:nvPicPr>
          <p:cNvPr id="15" name="图片 14" descr="文本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3640" y="71366"/>
            <a:ext cx="2037951" cy="5175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4010D-E9AB-40DE-A427-C803F7523D1E}" type="datetimeFigureOut">
              <a:rPr lang="zh-CN" altLang="en-US" smtClean="0"/>
              <a:t>2026/8/2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DA1-A446-45CC-B2D1-43BF7B1C27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523494" y="313034"/>
            <a:ext cx="11146526" cy="30632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>
        <a:defRPr sz="2100" b="1" i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294246"/>
              </p:ext>
            </p:extLst>
          </p:nvPr>
        </p:nvGraphicFramePr>
        <p:xfrm>
          <a:off x="580549" y="933643"/>
          <a:ext cx="11229317" cy="4854883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2131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13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91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中际旭创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,814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3,407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腾讯（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正大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周大福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华登科技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淡马锡（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阿布扎比投资局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澳大利亚养老</a:t>
                      </a:r>
                      <a:r>
                        <a:rPr lang="en-HK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加拿大养老金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CPP Investments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HK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摩根资产管理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云锋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(150)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Wellington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Indus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贝恩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&amp; Ninety One Asia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Tairen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Hao Advisors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(100)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建峖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HK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 (50)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Trivest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HK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Burkehill</a:t>
                      </a:r>
                      <a:r>
                        <a:rPr lang="en-HK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泛大西洋投资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327514"/>
                  </a:ext>
                </a:extLst>
              </a:tr>
              <a:tr h="172073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晶合集成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908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446.2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集创（含合肥集创香港及集创香港）（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51.36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智感微电子（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歌尔泰克（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璞新科技（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50.84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奇瑞汽车（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泰康资产（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汇添富（香港）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NGS Super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保银（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</a:p>
        </p:txBody>
      </p:sp>
      <p:sp>
        <p:nvSpPr>
          <p:cNvPr id="6" name="TextBox 52"/>
          <p:cNvSpPr txBox="1"/>
          <p:nvPr/>
        </p:nvSpPr>
        <p:spPr>
          <a:xfrm>
            <a:off x="393856" y="517888"/>
            <a:ext cx="11416010" cy="415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Ø"/>
              <a:defRPr sz="1500">
                <a:latin typeface="+mj-lt"/>
                <a:ea typeface="楷体" panose="02010609060101010101" pitchFamily="49" charset="-122"/>
              </a:defRPr>
            </a:lvl1pPr>
          </a:lstStyle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年以来，随着市场企稳回升、流动性改善叠加政策托底，财务投资者参与港股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项目基石的积极度显著提升，特别是对于估值合理的优质项目参与比例较高</a:t>
            </a:r>
          </a:p>
          <a:p>
            <a:pPr marL="240030" indent="-240030" algn="just" defTabSz="685800">
              <a:buFont typeface="Arial" panose="020B0604020202020204" pitchFamily="34" charset="0"/>
              <a:buChar char="•"/>
              <a:defRPr/>
            </a:pPr>
            <a:r>
              <a:rPr 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年至今共有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68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家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发行规模在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1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亿美元以上的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港股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IPO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上市公司引入基石投资者，基石投资者占发行规模的平均比例为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44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%</a:t>
            </a:r>
            <a:r>
              <a:rPr lang="zh-CN" altLang="en-US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，基石中非纯财务投资者平均比例为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cs typeface="+mn-ea"/>
                <a:sym typeface="+mn-lt"/>
              </a:rPr>
              <a:t>30</a:t>
            </a:r>
            <a:r>
              <a:rPr lang="en-US" altLang="zh-CN" sz="1000" dirty="0">
                <a:solidFill>
                  <a:srgbClr val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%</a:t>
            </a:r>
            <a:endParaRPr lang="en-US" sz="1000" dirty="0">
              <a:solidFill>
                <a:srgbClr val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12" name="文字版面配置區 3"/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2" name="图片 17">
            <a:extLst>
              <a:ext uri="{FF2B5EF4-FFF2-40B4-BE49-F238E27FC236}">
                <a16:creationId xmlns:a16="http://schemas.microsoft.com/office/drawing/2014/main" id="{BDAE7B90-610D-FE63-1BAD-1DA1B2DCDD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2464490"/>
            <a:ext cx="317972" cy="2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9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704320"/>
              </p:ext>
            </p:extLst>
          </p:nvPr>
        </p:nvGraphicFramePr>
        <p:xfrm>
          <a:off x="580549" y="541042"/>
          <a:ext cx="11229317" cy="595614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3307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30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6745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滨化股份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49.8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Aurora</a:t>
                      </a:r>
                      <a:r>
                        <a:rPr lang="zh-CN" altLang="en-US" sz="700" b="0" baseline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SF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（滨州国资委）（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中国宏桥（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北京益安（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鲁花道生（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Hyperion Venture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天图科技（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盛威（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501029"/>
                  </a:ext>
                </a:extLst>
              </a:tr>
              <a:tr h="202851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7-09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6951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三环集团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931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455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Metazone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摩根资管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AM(50)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River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晋达（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Alibaba Investment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黄河（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Huang River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，腾讯旗下）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高盛资管（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GSAM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宏利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 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Schonfeld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1854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1377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鼎泰高科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254.04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建滔投资（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定颖控投（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8.04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INVESTMENT XV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(20)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(15)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ATHOS CAPITAL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MASTER 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千禧管理（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iFund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IFUND SPC-Vision IX SP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霸菱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(8)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天壹资产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10129"/>
                  </a:ext>
                </a:extLst>
              </a:tr>
              <a:tr h="131718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2797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珞石机器人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114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金融街资本（国务院国资委）（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12.09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All View Fund(7.9)</a:t>
                      </a:r>
                    </a:p>
                  </a:txBody>
                  <a:tcPr marL="9525" marR="9525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098449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情况概览（续）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E184F7C-93D3-DED5-35BF-554FC804AD22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74730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704362"/>
              </p:ext>
            </p:extLst>
          </p:nvPr>
        </p:nvGraphicFramePr>
        <p:xfrm>
          <a:off x="584200" y="614988"/>
          <a:ext cx="11225666" cy="5886396"/>
        </p:xfrm>
        <a:graphic>
          <a:graphicData uri="http://schemas.openxmlformats.org/drawingml/2006/table">
            <a:tbl>
              <a:tblPr/>
              <a:tblGrid>
                <a:gridCol w="539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8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0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95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459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54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12428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58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立讯精密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3,155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1,500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（高瓴）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CPPIB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（通过高瓴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SMA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(150)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Neem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 Funds (70)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（阿布扎比投资局）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（瑞银资管）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瀚亚（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三菱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Perseverance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 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千禧年（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(30)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(30)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(30)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Polymer (30)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  <a:tr h="45974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0537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普源精电</a:t>
                      </a: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61.28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苏州高新区（太湖金谷及科发集团）（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华圆（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高领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12.5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中信保诚 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1.78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彭年集团（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Purple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Diamond Ltd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431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7-08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6880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MOMENTA-W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5,894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苏州魔速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(24.75)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梅赛德斯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奔驰集团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金兴环球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 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橡树资本（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Franklin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Templeton(10)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博裕（</a:t>
                      </a: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/Arcane Nexus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中国太保（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CPIC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华夏基金（香港）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696502"/>
                  </a:ext>
                </a:extLst>
              </a:tr>
              <a:tr h="102188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易控智驾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2,298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紫金矿业（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Aurora SF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（徐工集团）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富达国际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FIL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摩根资管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霸菱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Indus Funds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Jain Global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广发基金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+mj-ea"/>
                          <a:ea typeface="+mj-ea"/>
                        </a:rPr>
                        <a:t>鼎晖 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en-US" altLang="zh-CN" sz="700" b="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 Grand 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（</a:t>
                      </a:r>
                      <a:r>
                        <a:rPr lang="en-US" altLang="zh-CN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zh-CN" altLang="en-US" sz="700" b="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401455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5A4818AE-B8C2-59B4-E939-ECADC744E2F5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764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54345"/>
              </p:ext>
            </p:extLst>
          </p:nvPr>
        </p:nvGraphicFramePr>
        <p:xfrm>
          <a:off x="536288" y="663303"/>
          <a:ext cx="11229317" cy="579236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4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62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1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656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5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350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2026-07-02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0668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安克创新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Schroder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Aspex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信安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PFG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TRS）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15.04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高瓴（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国海富兰克林（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Jane Street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WT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惠理（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59667"/>
                  </a:ext>
                </a:extLst>
              </a:tr>
              <a:tr h="106775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2026-06-30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6715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鲟龙科技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78.5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贝莱德（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Barings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泰康资产（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景林（通过国泰君安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TRS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大成基金（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工银理财（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Nova Kerry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ACCF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未来资产 </a:t>
                      </a: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Mirae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94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3952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来福谐波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Oaktree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明山资本（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嘉实国际（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CDH 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鼎晖（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Eurus（Orix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）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清池资本 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Lake Bleu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Dream‘ee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Factorial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Oasis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037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礼邦医药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167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81.51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腾讯（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正心谷（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3.51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GIC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22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Loomis Sayles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RTW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Symbiosis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7.5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Cormorant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latin typeface="Arial Unicode MS"/>
                          <a:ea typeface="+mn-ea"/>
                        </a:rPr>
                        <a:t>Dymon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广发基金（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汇添富（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易方达基金（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4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640651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1191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海光芯正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99.24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JSC International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32.5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（北京国资委）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金山云（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双赢科技（佰维存储）（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26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UBS GAM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20.37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  <a:endParaRPr lang="en-US" altLang="zh-CN" sz="700" b="0" dirty="0">
                        <a:latin typeface="Arial Unicode MS"/>
                        <a:ea typeface="+mn-ea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高毅（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10.18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易方达（</a:t>
                      </a:r>
                      <a:r>
                        <a:rPr lang="en-US" altLang="zh-CN" sz="700" b="0" dirty="0">
                          <a:latin typeface="Arial Unicode MS"/>
                          <a:ea typeface="+mn-ea"/>
                        </a:rPr>
                        <a:t>5.09</a:t>
                      </a:r>
                      <a:r>
                        <a:rPr lang="zh-CN" altLang="en-US" sz="700" b="0" dirty="0">
                          <a:latin typeface="Arial Unicode MS"/>
                          <a:ea typeface="+mn-ea"/>
                        </a:rPr>
                        <a:t>）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亿美元港股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DD2CFA47-262F-0418-4413-2090F36AFD1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3453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981873"/>
              </p:ext>
            </p:extLst>
          </p:nvPr>
        </p:nvGraphicFramePr>
        <p:xfrm>
          <a:off x="523880" y="649481"/>
          <a:ext cx="11186777" cy="5815328"/>
        </p:xfrm>
        <a:graphic>
          <a:graphicData uri="http://schemas.openxmlformats.org/drawingml/2006/table">
            <a:tbl>
              <a:tblPr/>
              <a:tblGrid>
                <a:gridCol w="5379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14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2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138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964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063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39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706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6228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PT Merdeka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托克集团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开元矿业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万国黄金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嘉能可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摩科瑞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中伟股份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090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3661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圣邦微电子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Ocean Fine Industrial(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软通动力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(49)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(38)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Sentier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三菱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Continent(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洲证券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(49)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LMR 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Ninety One Asia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泰康资产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486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1688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领益智造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1054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406.9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荣耀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宏科技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Deliante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舜宇光学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Kaide Global Investment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(32)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Qube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Ti-Capital Funds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(29.9)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Jain Global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Seven Grand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Verition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95755"/>
                  </a:ext>
                </a:extLst>
              </a:tr>
              <a:tr h="1099823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6-26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9630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8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芯碁微装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422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207.01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胜宏科技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澜起科技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海燿实业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通富微电子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合肥建汇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芯耀投资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合肥国资委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)(21)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晶合集成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合肥国资委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)(8)</a:t>
                      </a: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阳光电源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永联投资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永卓控股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Monterey Park(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臻鼎科技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)(9.51)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AM(20)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CPE(18)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Lion Global(18)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通过中金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TRS)(12)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Victorious(10.5)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184654"/>
                  </a:ext>
                </a:extLst>
              </a:tr>
            </a:tbl>
          </a:graphicData>
        </a:graphic>
      </p:graphicFrame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7083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2026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年至今港股发行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亿美元以上</a:t>
            </a:r>
            <a:r>
              <a:rPr lang="en-US" altLang="zh-CN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IPO</a:t>
            </a:r>
            <a:r>
              <a:rPr lang="zh-CN" altLang="en-US" dirty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lt"/>
              </a:rPr>
              <a:t>项目基石投资情况概览（续）</a:t>
            </a:r>
          </a:p>
        </p:txBody>
      </p:sp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C9691A86-719D-7216-5EA7-C034CE02AF4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584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93745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项目基石投资情况概览（续）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481992"/>
              </p:ext>
            </p:extLst>
          </p:nvPr>
        </p:nvGraphicFramePr>
        <p:xfrm>
          <a:off x="523880" y="650243"/>
          <a:ext cx="11425030" cy="5827395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01989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98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3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2026-06-26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956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中科闻歌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TMT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Enhanced Income Fund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AMC)(6)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民银投资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17656"/>
                  </a:ext>
                </a:extLst>
              </a:tr>
              <a:tr h="417062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2335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麦科奥特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58.4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启源香港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山西省国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)(44.38)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云顶新耀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桥资本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顺鸣资本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(1.02)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  <a:tr h="8250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6106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仙工智能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元宝家办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瑞华投资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Yishao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Nova Kerry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(ACCF)(2)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079611"/>
                  </a:ext>
                </a:extLst>
              </a:tr>
              <a:tr h="113098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6067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星源材质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77.52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欣旺达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(2.42)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晶科能源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(5.2)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富国基金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(7.7)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广发基金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嘉实国际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(5.8)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淡水泉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高腾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中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TRS)(3)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 err="1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Mondeomax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(13)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Bona Star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(9.75)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深三和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(6.5)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SHEEN NATION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陈峰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75366"/>
                  </a:ext>
                </a:extLst>
              </a:tr>
              <a:tr h="51905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2026-06-23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6132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cs"/>
                        </a:rPr>
                        <a:t>华健未来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142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凯博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宣城市国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)(25)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睿远基金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(25)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清池资本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(5)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Sage Partners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(4)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盘京基金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 Unicode MS"/>
                        <a:ea typeface="+mn-ea"/>
                        <a:cs typeface="+mn-cs"/>
                      </a:endParaRP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泰康人寿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 Unicode MS"/>
                          <a:ea typeface="+mn-ea"/>
                          <a:cs typeface="+mn-cs"/>
                        </a:rPr>
                        <a:t>(3)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770692"/>
                  </a:ext>
                </a:extLst>
              </a:tr>
              <a:tr h="825017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2026-06-17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6675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琻捷电子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元线传感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Soc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隆威香港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保隆汽车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)(3.06)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(9.57)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Tembusu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David Su)(2.04)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阎焱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(2.04)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Thalassa Capital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6.41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Chample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李锋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)(3.90)</a:t>
                      </a:r>
                      <a:b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Libra Fixed Income One SP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庄家颖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)(2.60)</a:t>
                      </a:r>
                      <a:endParaRPr lang="en-US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22%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331815"/>
                  </a:ext>
                </a:extLst>
              </a:tr>
              <a:tr h="102899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1779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天辰生物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过敏性疾病</a:t>
                      </a:r>
                      <a:endParaRPr lang="en-US" altLang="zh-CN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药物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奥博资本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真脉基金 </a:t>
                      </a:r>
                      <a:r>
                        <a:rPr lang="en-US" altLang="zh-CN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TruMed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睿郡资产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睿远基金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FRM(</a:t>
                      </a: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张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国锋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732300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71EB168-4FA7-42A0-81B4-1591AF62B5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4881123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92DF1599-92B3-4D1B-9D1E-E55D3DB7A9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5934764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93FE13AA-62B9-0944-97ED-5EE36C79012A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69618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926995"/>
              </p:ext>
            </p:extLst>
          </p:nvPr>
        </p:nvGraphicFramePr>
        <p:xfrm>
          <a:off x="523880" y="582430"/>
          <a:ext cx="11425030" cy="5521554"/>
        </p:xfrm>
        <a:graphic>
          <a:graphicData uri="http://schemas.openxmlformats.org/drawingml/2006/table">
            <a:tbl>
              <a:tblPr/>
              <a:tblGrid>
                <a:gridCol w="657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8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01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0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71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563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918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479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16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7925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2026-06-05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大金重工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海上风电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357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</a:t>
                      </a: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高瓴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39.99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Marshall Wace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b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</a:t>
                      </a:r>
                      <a:r>
                        <a:rPr lang="en-US" altLang="zh-CN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endParaRPr lang="zh-CN" altLang="zh-CN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929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3310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云英谷科技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显示驱动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芯片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endParaRPr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50.57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Digital Vista GD Investment LP </a:t>
                      </a:r>
                      <a:r>
                        <a:rPr 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(45.5)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SpreadCom</a:t>
                      </a: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Limited </a:t>
                      </a:r>
                      <a:r>
                        <a:rPr lang="en-US" sz="7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(5.07)</a:t>
                      </a:r>
                      <a:endParaRPr 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13706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7688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拓璞数控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数控机床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224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110.01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上海闵行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RBC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(22.01)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Boyu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Singapore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CDH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信庭基金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&amp;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TT International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86482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2026-05-20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驭势科技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雄安自动驾驶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(29.08)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CYGG (</a:t>
                      </a:r>
                      <a:r>
                        <a:rPr 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集团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)(1.02)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Starwin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International A LPF(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洪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泰证券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)(3.86)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7768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7630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英派药业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小分子肿瘤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靶向药物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108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35.74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BPV(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通过华泰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资本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TRS)(12.25)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腾讯控股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(9.99)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WWHCP(Exome)(1)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LAV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First Quarter Moon(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上弦月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)(2.5)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08713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7666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剂泰科技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纳米药物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270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国风投创新投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贝莱德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GAM(15)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HHLRA(8)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Deerfield(5)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RTW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Avenue(IDG)(5)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Isometry Global(5)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工银瑞信实体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富国基金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Lake Bleu(4)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Partners(4)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 Asia AM(2)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98301"/>
                  </a:ext>
                </a:extLst>
              </a:tr>
            </a:tbl>
          </a:graphicData>
        </a:graphic>
      </p:graphicFrame>
      <p:pic>
        <p:nvPicPr>
          <p:cNvPr id="8" name="图片 17">
            <a:extLst>
              <a:ext uri="{FF2B5EF4-FFF2-40B4-BE49-F238E27FC236}">
                <a16:creationId xmlns:a16="http://schemas.microsoft.com/office/drawing/2014/main" id="{EDBBC21B-DB0B-46F0-A78A-31234DFCC3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44996" y="2158401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64402855-157B-11D9-6E32-A61FD2C44F8B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935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445333"/>
              </p:ext>
            </p:extLst>
          </p:nvPr>
        </p:nvGraphicFramePr>
        <p:xfrm>
          <a:off x="523878" y="799153"/>
          <a:ext cx="11425030" cy="5399175"/>
        </p:xfrm>
        <a:graphic>
          <a:graphicData uri="http://schemas.openxmlformats.org/drawingml/2006/table">
            <a:tbl>
              <a:tblPr/>
              <a:tblGrid>
                <a:gridCol w="67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9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8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082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95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534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666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830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796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0"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2026-05-11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1236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00" b="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乐动机器人</a:t>
                      </a:r>
                      <a:endParaRPr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自动驾驶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>
                        <a:defRPr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113</a:t>
                      </a:r>
                    </a:p>
                  </a:txBody>
                  <a:tcPr marL="18000" marR="18000" marT="9000" marB="90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康成亨远景投资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诸暨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市财政局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)(36.01)</a:t>
                      </a:r>
                      <a:endParaRPr lang="zh-CN" altLang="en-US" sz="7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504324"/>
                  </a:ext>
                </a:extLst>
              </a:tr>
              <a:tr h="70553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altLang="zh-CN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1187</a:t>
                      </a:r>
                      <a:endParaRPr kumimoji="0" lang="zh-CN" alt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可孚医疗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家用</a:t>
                      </a:r>
                    </a:p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700" b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48.5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长沙雨丰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长沙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雨花区政府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)(6.99)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蓝思科技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香港汉清达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中康科技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黄雪林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蓝科技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远信投资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TRS)(6.51)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FR M CONSULTING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ODI TRUST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戴钧安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陆勤超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64127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/5/5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天星医疗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医疗器械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JSC International 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Shenghai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SP)(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亦庄财政国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资局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奥博亚洲四期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(Mega Prime &amp;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Poly Platinum)(7)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80506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商米科技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商业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物联网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36.57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XINWUTANG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(31.57)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99362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迈威生物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山东国惠</a:t>
                      </a:r>
                      <a:r>
                        <a:rPr lang="en-US" altLang="zh-CN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山东省国</a:t>
                      </a:r>
                      <a:r>
                        <a:rPr lang="zh-CN" altLang="en-US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君实香港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Sanjin International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WuXi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Biologics Venture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昌荣国际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中和资本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52200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/4/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曦智科技</a:t>
                      </a: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光计算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及光互联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72%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)(4.3)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Alibaba Investment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(26)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Baillie Gifford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上海中移基金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(14.6)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FUNDS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未来资产证券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平安资产管理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648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3296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消费电子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Green Better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宏兴国际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艾唯技术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Aurora SF(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晶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合集成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)(25)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建滔投资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(25)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ea"/>
                      </a:endParaRPr>
                    </a:p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香港君正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ea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 AM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 Map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New China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常春藤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JinYi Capital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839580"/>
                  </a:ext>
                </a:extLst>
              </a:tr>
            </a:tbl>
          </a:graphicData>
        </a:graphic>
      </p:graphicFrame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05FAD800-923C-1C2E-2308-6654254551A5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634703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138709"/>
              </p:ext>
            </p:extLst>
          </p:nvPr>
        </p:nvGraphicFramePr>
        <p:xfrm>
          <a:off x="634703" y="788277"/>
          <a:ext cx="11146632" cy="4093077"/>
        </p:xfrm>
        <a:graphic>
          <a:graphicData uri="http://schemas.openxmlformats.org/drawingml/2006/table">
            <a:tbl>
              <a:tblPr/>
              <a:tblGrid>
                <a:gridCol w="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4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7184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328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ea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2026/4/21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2476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2,567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997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华勤新加坡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惠州国投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(28.75)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Tanwan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TCL(20)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叶国富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正大集团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鲁花道生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(15)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Fund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旺旺家办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(53)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Foresight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涌容资产管理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HK Greenwoods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Cloudview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信银投资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大湾区共同家园投资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Golden K2 Falcon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Infore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Ovata Capital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SR Wealth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Ruihua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Investment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天弘基金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光大理财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b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周大福家办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437689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0068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群核科技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空间</a:t>
                      </a:r>
                      <a:endParaRPr kumimoji="0" lang="en-US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sz="700" b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设计</a:t>
                      </a:r>
                      <a:endParaRPr kumimoji="0" sz="700" b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Hesai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HK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国惠香港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华营建筑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阳光人寿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Redwood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828017"/>
                  </a:ext>
                </a:extLst>
              </a:tr>
            </a:tbl>
          </a:graphicData>
        </a:graphic>
      </p:graphicFrame>
      <p:pic>
        <p:nvPicPr>
          <p:cNvPr id="2" name="图片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99804" y="2583627"/>
            <a:ext cx="423963" cy="382160"/>
          </a:xfrm>
          <a:prstGeom prst="rect">
            <a:avLst/>
          </a:prstGeom>
        </p:spPr>
      </p:pic>
      <p:sp>
        <p:nvSpPr>
          <p:cNvPr id="3" name="文字版面配置區 3">
            <a:extLst>
              <a:ext uri="{FF2B5EF4-FFF2-40B4-BE49-F238E27FC236}">
                <a16:creationId xmlns:a16="http://schemas.microsoft.com/office/drawing/2014/main" id="{EBBE1EF0-C97F-F8DF-DA17-DC1A9B044E6B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178874"/>
              </p:ext>
            </p:extLst>
          </p:nvPr>
        </p:nvGraphicFramePr>
        <p:xfrm>
          <a:off x="524044" y="792560"/>
          <a:ext cx="11155634" cy="4390549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3277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长光辰芯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传感器	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339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166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未来香港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Yield Royal Investment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钟鼎资本八期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宁远资本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源码资本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Cithara Fund 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东方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AMC</a:t>
                      </a:r>
                      <a:r>
                        <a:rPr lang="it-IT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(1.73)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招证投资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2026/4/16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6656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思格新能源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700" b="0" i="0" u="none" strike="noStrike" baseline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zh-CN" altLang="en-US" sz="700" b="0" i="0" u="none" strike="noStrik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储能	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上海陆家嘴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浦东国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国泰君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安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TRS) (28.89)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正大机器人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Aranda Investments(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马锡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(33)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高盛资产管理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Hillhouse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(21)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AXA Investment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CPE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Orix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太保资管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景林资管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Scene Cloud Global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HuadengTechnology</a:t>
                      </a:r>
                      <a:r>
                        <a:rPr 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0.05%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020969"/>
                  </a:ext>
                </a:extLst>
              </a:tr>
            </a:tbl>
          </a:graphicData>
        </a:graphic>
      </p:graphicFrame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2D2216EB-FF6F-B8ED-FD7E-76E14C79A42B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8087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（续）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350489"/>
              </p:ext>
            </p:extLst>
          </p:nvPr>
        </p:nvGraphicFramePr>
        <p:xfrm>
          <a:off x="383484" y="630281"/>
          <a:ext cx="11357949" cy="5890520"/>
        </p:xfrm>
        <a:graphic>
          <a:graphicData uri="http://schemas.openxmlformats.org/drawingml/2006/table">
            <a:tbl>
              <a:tblPr/>
              <a:tblGrid>
                <a:gridCol w="59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1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7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76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91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67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71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6005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2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华沿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</a:t>
                      </a: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机器人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98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全顺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顺德国</a:t>
                      </a:r>
                      <a:r>
                        <a:rPr lang="zh-CN" alt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资委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)(3.2)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MSIP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灏浚投资</a:t>
                      </a:r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TRS)(5.8)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Eternal Summer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Shrewd Pioneer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 Technology </a:t>
                      </a:r>
                      <a:r>
                        <a:rPr lang="en-US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晟信集团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(6.4)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瀚天天成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7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209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101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47%</a:t>
                      </a:r>
                      <a:endParaRPr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厦门先进制造业基金</a:t>
                      </a:r>
                      <a:r>
                        <a:rPr lang="en-US" altLang="zh-CN" sz="700" b="0" i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(100.72)</a:t>
                      </a:r>
                      <a:endParaRPr lang="zh-CN" altLang="en-US" sz="700" b="0" i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广合科技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 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景林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AM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惠理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Eastspring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GBAHIL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</a:t>
                      </a:r>
                      <a:r>
                        <a:rPr lang="it-IT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it-IT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霸菱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403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151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名幸电子香港有限公司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锐明电子有限公司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宝月湖深产投共赢企业管理有限公司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1" marR="6351" marT="6351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清华教育基金会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嘉实基金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开盘财富管理有限公司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周增昌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it-IT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64%</a:t>
                      </a:r>
                    </a:p>
                  </a:txBody>
                  <a:tcPr marL="8467" marR="8467" marT="8467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55539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兆威机电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机械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太湖金谷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VVC Technology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联城集团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拓斯达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HHLRA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未来资产 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Perseverance 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Oakwise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 Trading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双诚资本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通过建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投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恒邦私募</a:t>
                      </a:r>
                      <a: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</a:t>
                      </a:r>
                      <a:r>
                        <a:rPr lang="zh-CN" alt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银河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TRS)(7)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民银国际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雾淞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br>
                        <a:rPr lang="en-US" altLang="zh-CN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万源资本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sz="700" b="1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706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2026/3/5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埃斯顿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工业自动化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亨通光电国际 </a:t>
                      </a:r>
                      <a:r>
                        <a:rPr lang="en-US" altLang="zh-CN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海天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至源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裕祥</a:t>
                      </a:r>
                      <a:r>
                        <a:rPr lang="en-US" altLang="zh-CN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网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誉科技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altLang="zh-CN" sz="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Harvest Oriental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dirty="0" err="1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Dream'ee</a:t>
                      </a:r>
                      <a:r>
                        <a:rPr 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TW" altLang="en-US" sz="700" dirty="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前海合眾投資 </a:t>
                      </a:r>
                      <a:r>
                        <a:rPr lang="en-US" altLang="zh-TW" sz="700"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122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沃尔核材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通讯电缆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江西省政府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铜业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惠州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惠联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(25.7)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山东发展投资控股集团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惠香港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璞信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深圳新宙邦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Jump Trading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深圳新世界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高时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The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Edgeof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Korea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SCV Alpha) (3.5)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Gallatlion Resources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Yield Royal) 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易亚投资管理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前海辰星投资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36371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397D7B88-78F3-4A2C-8F7B-FBB746E046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21168" y="2464520"/>
            <a:ext cx="317972" cy="286620"/>
          </a:xfrm>
          <a:prstGeom prst="rect">
            <a:avLst/>
          </a:prstGeom>
        </p:spPr>
      </p:pic>
      <p:pic>
        <p:nvPicPr>
          <p:cNvPr id="7" name="图片 17">
            <a:extLst>
              <a:ext uri="{FF2B5EF4-FFF2-40B4-BE49-F238E27FC236}">
                <a16:creationId xmlns:a16="http://schemas.microsoft.com/office/drawing/2014/main" id="{D885D583-59AB-46E0-AC89-3310BB813A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21168" y="4989286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532D4CCE-1E79-9FED-3AC7-BEE372F58F63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66612"/>
              </p:ext>
            </p:extLst>
          </p:nvPr>
        </p:nvGraphicFramePr>
        <p:xfrm>
          <a:off x="529839" y="749910"/>
          <a:ext cx="11149839" cy="4859779"/>
        </p:xfrm>
        <a:graphic>
          <a:graphicData uri="http://schemas.openxmlformats.org/drawingml/2006/table">
            <a:tbl>
              <a:tblPr/>
              <a:tblGrid>
                <a:gridCol w="594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3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95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1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17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0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50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3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53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2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52102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84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0470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先导智能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智能装备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44%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Oaktree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 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 Asian)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Morgan Stanley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欧万达基金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无锡金筹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国泰海通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Rome Garden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0600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爱芯元智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185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宁波市政府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(JSC International</a:t>
                      </a:r>
                      <a:b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</a:b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Investment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Fund SPC) (27)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雅戈尔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德赛西威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均胜电子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NGS Super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Factorial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Valliance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Jupiter Research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GRANITE ASIA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豪恩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TRS-CICC FT)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NonaVerse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观澜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6809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澜起科技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高速互联芯片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摩根大通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Yunfeng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Huadeng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Technology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Aberdeen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Barings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Asia-Germany Industrial Promotion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Hel Ved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MY.Alpha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QRT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87999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2714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牧原股份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生猪养殖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1,389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685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丰益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中国中化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河南省国资委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香港豫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农国际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Charoen Pokphand Foods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美的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 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加拿大皇家银行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平安人寿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(20)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Millennium (10)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Jane Street (10)</a:t>
                      </a: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694883"/>
                  </a:ext>
                </a:extLst>
              </a:tr>
            </a:tbl>
          </a:graphicData>
        </a:graphic>
      </p:graphicFrame>
      <p:pic>
        <p:nvPicPr>
          <p:cNvPr id="7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2848929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7456EEE5-35D6-D288-DBA5-DA4128461C21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1738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508687"/>
              </p:ext>
            </p:extLst>
          </p:nvPr>
        </p:nvGraphicFramePr>
        <p:xfrm>
          <a:off x="524044" y="595246"/>
          <a:ext cx="11155634" cy="5837176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4400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3200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大族数控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PCB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专用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设备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GIC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胜宏科技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宏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兴国际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Schroders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高瓴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摩根士丹利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源乐晟</a:t>
                      </a:r>
                      <a:r>
                        <a:rPr lang="en-US" altLang="zh-CN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通过中</a:t>
                      </a:r>
                      <a:r>
                        <a:rPr lang="zh-CN" altLang="en-US" sz="7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</a:t>
                      </a:r>
                      <a:r>
                        <a:rPr lang="en-US" altLang="zh-CN" sz="700" b="0" i="0" u="none" strike="noStrike" noProof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27586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2026/2/2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国恩科技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高分子材料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利冠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SLD International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(10.26)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前海国际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(14.11)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复星国际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Luminous Horizon)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(5.13)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丞安国际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新嘉财富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(1.92)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富国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(1.28)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申万宏源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2026/1/30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9980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东鹏饮料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软饮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1,318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640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卡塔尔投资局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(Al-Rayyan)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(Huang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River Investment)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太白及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True Light) 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SNP China Enterprises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HSG Growth)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JPMorgan AM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Azure Skylines)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Pacific Century Pines Investments 1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嘉里控股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Velmar Company)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Pinpoint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Orchid Asia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Amazing Mountain)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加华裕丰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(Great China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Motivation Fund)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31%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57082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1768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鸣鸣很忙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食品饮料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41%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腾讯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淡马锡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BlackRock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富达基金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博时国际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18956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9611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龙旗科技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智能产品制造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194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QUALCOMM (8)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裕同科技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江西国控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(15.5)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青岛观澜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(TRS-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国泰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君安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Nanhai Asset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77%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1272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兆易创新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TCL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天进贸易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(OPPO)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小米集团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源峰基金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(CPE) 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上海景林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(29.7)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Yunteng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Dymon Asia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奇点资产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新华人寿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顺和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工银理财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大湾区基金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(GBAD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基金管理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096692"/>
                  </a:ext>
                </a:extLst>
              </a:tr>
            </a:tbl>
          </a:graphicData>
        </a:graphic>
      </p:graphicFrame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21708B36-27F4-8A65-9041-7A824ED06C8F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0"/>
          <p:cNvSpPr>
            <a:spLocks noGrp="1"/>
          </p:cNvSpPr>
          <p:nvPr>
            <p:ph type="title"/>
          </p:nvPr>
        </p:nvSpPr>
        <p:spPr>
          <a:xfrm>
            <a:off x="523880" y="326236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357701"/>
              </p:ext>
            </p:extLst>
          </p:nvPr>
        </p:nvGraphicFramePr>
        <p:xfrm>
          <a:off x="581114" y="712616"/>
          <a:ext cx="11098564" cy="5049680"/>
        </p:xfrm>
        <a:graphic>
          <a:graphicData uri="http://schemas.openxmlformats.org/drawingml/2006/table">
            <a:tbl>
              <a:tblPr/>
              <a:tblGrid>
                <a:gridCol w="534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4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2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7320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479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32143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6938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瑞博生物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医药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238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Arc Avenue)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Bright Stone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大成基金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Erik Selin 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Fastigheter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Himension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IvyRock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Regal Gardens Fort Limited(</a:t>
                      </a:r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Mingxin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Growth Ventures)(10)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Springs Capital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拾贝能信及自然拾贝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3500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3636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金浔资源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有色金属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143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42%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Glencore PLC (30)</a:t>
                      </a: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欣旺达电子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(1.29)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Stoneylake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Global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North Rock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(8)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新亚洲富怡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联域集团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(2.97)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Zhengxin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Group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52%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51931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0501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豪威集团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半导体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279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45%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宁波国资委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(JSC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International Investment) 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华勤技术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OPPO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(25.71)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UG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(33.68)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浦东科创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Ghisallo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大家人寿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中邮理财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9489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9903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天数智芯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人工智能芯片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478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43%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Focustar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Capital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(17)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中兴通讯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(2.42)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华胜天成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(4.3)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通富微电子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第四范式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安擎计算机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(3.6)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芯鑫租赁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(1.8)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观博资本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Wind Sabre) (20)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Qin Wan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(12.1)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OCM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衡信基金管理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TRS-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华泰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 (21)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Duckling Fund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DeepRoot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Partners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Orient 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(10.1)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华夏基金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明山资本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2237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2513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智谱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人工智能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398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70%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凌云光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北京市国资委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璟泉启智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北京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))(179)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4763" marR="4763" marT="4763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进益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天津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资产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管理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(7)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WT Asset Management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(44.9)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广发基金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(42)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3W Fund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(18)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雾凇资本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(9.75)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中庸资本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46%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3605945"/>
                  </a:ext>
                </a:extLst>
              </a:tr>
            </a:tbl>
          </a:graphicData>
        </a:graphic>
      </p:graphicFrame>
      <p:pic>
        <p:nvPicPr>
          <p:cNvPr id="6" name="图片 17">
            <a:extLst>
              <a:ext uri="{FF2B5EF4-FFF2-40B4-BE49-F238E27FC236}">
                <a16:creationId xmlns:a16="http://schemas.microsoft.com/office/drawing/2014/main" id="{057616F1-9F1F-4D93-A1B7-FBCC99317E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194350" y="3200886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FAF46182-5581-350F-09FF-AD3E2D679AB1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469526"/>
              </p:ext>
            </p:extLst>
          </p:nvPr>
        </p:nvGraphicFramePr>
        <p:xfrm>
          <a:off x="524044" y="611823"/>
          <a:ext cx="11155634" cy="3112289"/>
        </p:xfrm>
        <a:graphic>
          <a:graphicData uri="http://schemas.openxmlformats.org/drawingml/2006/table">
            <a:tbl>
              <a:tblPr/>
              <a:tblGrid>
                <a:gridCol w="591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5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0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7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26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345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866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2865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定价日期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代码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公司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行业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基础发行规模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基石规模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</a:t>
                      </a:r>
                      <a:endParaRPr lang="en-US" altLang="zh-CN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比例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基石投资者</a:t>
                      </a:r>
                      <a:r>
                        <a:rPr lang="en-US" altLang="zh-CN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(</a:t>
                      </a:r>
                      <a:r>
                        <a:rPr lang="zh-CN" altLang="en-US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百万美元</a:t>
                      </a:r>
                      <a:r>
                        <a:rPr lang="en-US" altLang="zh-CN" sz="7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)</a:t>
                      </a:r>
                      <a:endParaRPr lang="zh-CN" altLang="en-US" sz="7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基石投资中非纯财务金额占比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64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上下游企业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政府基金</a:t>
                      </a: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老股东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font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其他战略合作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  <a:sym typeface="+mn-lt"/>
                        </a:rPr>
                        <a:t>财务投资者</a:t>
                      </a:r>
                      <a:endParaRPr lang="en-US" sz="700" dirty="0"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  <a:sym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328" marR="9328" marT="9328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0100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MINIMAX-WP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AI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大模型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626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56%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阿里巴巴 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700" b="0" i="0" u="none" strike="noStrike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Alisoft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China) (30)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(65)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Aspex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Master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博裕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汇添富基金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保诚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易方达基金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IDG Breyer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Janchor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Martis Fund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Mirae Asset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MPC VII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高毅资产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(25)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泰康人寿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(20)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9%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71811"/>
                  </a:ext>
                </a:extLst>
              </a:tr>
              <a:tr h="9583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2026/1/6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2675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精锋医疗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手术机器人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49%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ADIA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Orbimed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UBS GAM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(10)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Alpha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China AMC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GBA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Tencent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LYFE Capital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(5)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Infini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Optimas</a:t>
                      </a: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盘京投资 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SAGE Partners </a:t>
                      </a:r>
                      <a:r>
                        <a:rPr lang="en-US" altLang="zh-TW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(3)</a:t>
                      </a:r>
                      <a:endParaRPr lang="en-US" altLang="zh-TW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蔡东晨</a:t>
                      </a: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zh-CN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石药集团</a:t>
                      </a:r>
                      <a:r>
                        <a:rPr lang="zh-CN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执行董事长</a:t>
                      </a:r>
                      <a:r>
                        <a:rPr lang="en-US" alt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)(3)</a:t>
                      </a:r>
                      <a:endParaRPr lang="en-US" altLang="zh-CN" sz="7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7144" marR="7144" marT="7144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0%</a:t>
                      </a:r>
                    </a:p>
                  </a:txBody>
                  <a:tcPr marL="7144" marR="7144" marT="31173" marB="31173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542612"/>
                  </a:ext>
                </a:extLst>
              </a:tr>
            </a:tbl>
          </a:graphicData>
        </a:graphic>
      </p:graphicFrame>
      <p:sp>
        <p:nvSpPr>
          <p:cNvPr id="8" name="标题 10"/>
          <p:cNvSpPr>
            <a:spLocks noGrp="1"/>
          </p:cNvSpPr>
          <p:nvPr>
            <p:ph type="title"/>
          </p:nvPr>
        </p:nvSpPr>
        <p:spPr>
          <a:xfrm>
            <a:off x="523880" y="166802"/>
            <a:ext cx="11146631" cy="307181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2026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年至今港股发行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亿美元以上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项目基石投资情况概览</a:t>
            </a:r>
            <a:r>
              <a:rPr lang="en-US" altLang="zh-CN">
                <a:ea typeface="+mn-ea"/>
                <a:cs typeface="+mn-ea"/>
                <a:sym typeface="+mn-lt"/>
              </a:rPr>
              <a:t>(</a:t>
            </a:r>
            <a:r>
              <a:rPr lang="zh-CN" altLang="en-US">
                <a:ea typeface="+mn-ea"/>
                <a:cs typeface="+mn-ea"/>
                <a:sym typeface="+mn-lt"/>
              </a:rPr>
              <a:t>续</a:t>
            </a:r>
            <a:r>
              <a:rPr lang="en-US" altLang="zh-CN">
                <a:ea typeface="+mn-ea"/>
                <a:cs typeface="+mn-ea"/>
                <a:sym typeface="+mn-lt"/>
              </a:rPr>
              <a:t>)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pic>
        <p:nvPicPr>
          <p:cNvPr id="10" name="图片 17">
            <a:extLst>
              <a:ext uri="{FF2B5EF4-FFF2-40B4-BE49-F238E27FC236}">
                <a16:creationId xmlns:a16="http://schemas.microsoft.com/office/drawing/2014/main" id="{0AEDD883-C5A9-412C-BAC6-74C7C49F28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3" t="20977" r="60601" b="22493"/>
          <a:stretch>
            <a:fillRect/>
          </a:stretch>
        </p:blipFill>
        <p:spPr>
          <a:xfrm>
            <a:off x="234871" y="2914040"/>
            <a:ext cx="317972" cy="286620"/>
          </a:xfrm>
          <a:prstGeom prst="rect">
            <a:avLst/>
          </a:prstGeom>
        </p:spPr>
      </p:pic>
      <p:sp>
        <p:nvSpPr>
          <p:cNvPr id="2" name="文字版面配置區 3">
            <a:extLst>
              <a:ext uri="{FF2B5EF4-FFF2-40B4-BE49-F238E27FC236}">
                <a16:creationId xmlns:a16="http://schemas.microsoft.com/office/drawing/2014/main" id="{9C47FC09-1FF9-E138-E703-EA6E58CA303D}"/>
              </a:ext>
            </a:extLst>
          </p:cNvPr>
          <p:cNvSpPr txBox="1"/>
          <p:nvPr/>
        </p:nvSpPr>
        <p:spPr>
          <a:xfrm>
            <a:off x="419933" y="6642172"/>
            <a:ext cx="11425031" cy="215828"/>
          </a:xfrm>
          <a:prstGeom prst="rect">
            <a:avLst/>
          </a:prstGeom>
        </p:spPr>
        <p:txBody>
          <a:bodyPr/>
          <a:lstStyle>
            <a:lvl1pPr marL="0" eaLnBrk="1" hangingPunct="1">
              <a:defRPr>
                <a:latin typeface="+mn-lt"/>
                <a:ea typeface="+mn-ea"/>
                <a:cs typeface="+mn-cs"/>
              </a:defRPr>
            </a:lvl1pPr>
            <a:lvl2pPr marL="457200" eaLnBrk="1" hangingPunct="1">
              <a:defRPr>
                <a:latin typeface="+mn-lt"/>
                <a:ea typeface="+mn-ea"/>
                <a:cs typeface="+mn-cs"/>
              </a:defRPr>
            </a:lvl2pPr>
            <a:lvl3pPr marL="914400" eaLnBrk="1" hangingPunct="1">
              <a:defRPr>
                <a:latin typeface="+mn-lt"/>
                <a:ea typeface="+mn-ea"/>
                <a:cs typeface="+mn-cs"/>
              </a:defRPr>
            </a:lvl3pPr>
            <a:lvl4pPr marL="1371600" eaLnBrk="1" hangingPunct="1">
              <a:defRPr>
                <a:latin typeface="+mn-lt"/>
                <a:ea typeface="+mn-ea"/>
                <a:cs typeface="+mn-cs"/>
              </a:defRPr>
            </a:lvl4pPr>
            <a:lvl5pPr marL="1828800" eaLnBrk="1" hangingPunct="1">
              <a:defRPr>
                <a:latin typeface="+mn-lt"/>
                <a:ea typeface="+mn-ea"/>
                <a:cs typeface="+mn-cs"/>
              </a:defRPr>
            </a:lvl5pPr>
            <a:lvl6pPr marL="2286000" eaLnBrk="1" hangingPunct="1">
              <a:defRPr>
                <a:latin typeface="+mn-lt"/>
                <a:ea typeface="+mn-ea"/>
                <a:cs typeface="+mn-cs"/>
              </a:defRPr>
            </a:lvl6pPr>
            <a:lvl7pPr marL="2743200" eaLnBrk="1" hangingPunct="1">
              <a:defRPr>
                <a:latin typeface="+mn-lt"/>
                <a:ea typeface="+mn-ea"/>
                <a:cs typeface="+mn-cs"/>
              </a:defRPr>
            </a:lvl7pPr>
            <a:lvl8pPr marL="3200400" eaLnBrk="1" hangingPunct="1">
              <a:defRPr>
                <a:latin typeface="+mn-lt"/>
                <a:ea typeface="+mn-ea"/>
                <a:cs typeface="+mn-cs"/>
              </a:defRPr>
            </a:lvl8pPr>
            <a:lvl9pPr marL="3657600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defTabSz="685800"/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资料来源：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Dealogic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HKEX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截至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2026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年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8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月</a:t>
            </a:r>
            <a:r>
              <a:rPr lang="en-US" altLang="zh-TW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</a:t>
            </a:r>
            <a:r>
              <a:rPr lang="zh-TW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日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。注：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1.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 以港币兑人民币 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= 1:0.93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，港币兑美元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1:0.13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口径计算；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2.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基石比例以配发公告数据为准，发行和基石数据保留整数；</a:t>
            </a:r>
            <a:r>
              <a:rPr lang="en-US" altLang="zh-CN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3. </a:t>
            </a:r>
            <a:r>
              <a:rPr lang="zh-CN" altLang="en-US" sz="700" kern="0" dirty="0">
                <a:solidFill>
                  <a:sysClr val="windowText" lastClr="000000"/>
                </a:solidFill>
                <a:latin typeface="Calibri" panose="020F0502020204030204"/>
                <a:ea typeface="楷体" panose="02010609060101010101" pitchFamily="49" charset="-122"/>
                <a:cs typeface="+mn-ea"/>
                <a:sym typeface="+mn-lt"/>
              </a:rPr>
              <a:t>老股东包括基石为现有股东或其紧密联系人的情况，如同属于同一基金公司管理的不同基金</a:t>
            </a:r>
            <a:endParaRPr lang="en-US" altLang="zh-CN" sz="700" kern="0" dirty="0">
              <a:solidFill>
                <a:sysClr val="windowText" lastClr="000000"/>
              </a:solidFill>
              <a:latin typeface="Calibri" panose="020F0502020204030204"/>
              <a:ea typeface="楷体" panose="02010609060101010101" pitchFamily="49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">
  <a:themeElements>
    <a:clrScheme name="广发hk">
      <a:dk1>
        <a:srgbClr val="000000"/>
      </a:dk1>
      <a:lt1>
        <a:srgbClr val="FFFFFF"/>
      </a:lt1>
      <a:dk2>
        <a:srgbClr val="174885"/>
      </a:dk2>
      <a:lt2>
        <a:srgbClr val="A6A6A6"/>
      </a:lt2>
      <a:accent1>
        <a:srgbClr val="B49C7E"/>
      </a:accent1>
      <a:accent2>
        <a:srgbClr val="E2D8CC"/>
      </a:accent2>
      <a:accent3>
        <a:srgbClr val="EFECE5"/>
      </a:accent3>
      <a:accent4>
        <a:srgbClr val="D8D8D8"/>
      </a:accent4>
      <a:accent5>
        <a:srgbClr val="E0EDF9"/>
      </a:accent5>
      <a:accent6>
        <a:srgbClr val="DC0A17"/>
      </a:accent6>
      <a:hlink>
        <a:srgbClr val="174885"/>
      </a:hlink>
      <a:folHlink>
        <a:srgbClr val="C3DBF3"/>
      </a:folHlink>
    </a:clrScheme>
    <a:fontScheme name="50b333aa-de07-4445-b413-66207e211c55">
      <a:majorFont>
        <a:latin typeface="calibri"/>
        <a:ea typeface="楷体"/>
        <a:cs typeface=""/>
      </a:majorFont>
      <a:minorFont>
        <a:latin typeface="calibri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108000" rIns="108000" bIns="108000" rtlCol="0" anchor="t"/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b="1" dirty="0" smtClean="0">
            <a:solidFill>
              <a:schemeClr val="bg1"/>
            </a:solidFill>
            <a:latin typeface="+mn-ea"/>
            <a:cs typeface="微软雅黑" panose="020B050302020402020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ln>
          <a:noFill/>
        </a:ln>
      </a:spPr>
      <a:bodyPr wrap="square" lIns="108000" tIns="108000" rIns="108000" bIns="108000" rtlCol="0" anchor="ctr">
        <a:spAutoFit/>
      </a:bodyPr>
      <a:lstStyle>
        <a:defPPr algn="just" defTabSz="1002665" fontAlgn="base">
          <a:spcAft>
            <a:spcPts val="600"/>
          </a:spcAft>
          <a:buClr>
            <a:srgbClr val="B49C7E"/>
          </a:buClr>
          <a:defRPr kumimoji="1" sz="1400" b="1" dirty="0" smtClean="0">
            <a:solidFill>
              <a:schemeClr val="tx1"/>
            </a:solidFill>
            <a:latin typeface="+mn-ea"/>
            <a:cs typeface="Arial" panose="020B0604020202020204" pitchFamily="34" charset="0"/>
            <a:sym typeface="Arial" panose="020B0604020202020204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7981</Words>
  <Application>Microsoft Office PowerPoint</Application>
  <PresentationFormat>Widescreen</PresentationFormat>
  <Paragraphs>1611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 Unicode MS</vt:lpstr>
      <vt:lpstr>等线</vt:lpstr>
      <vt:lpstr>等线 Light</vt:lpstr>
      <vt:lpstr>微软雅黑</vt:lpstr>
      <vt:lpstr>Arial</vt:lpstr>
      <vt:lpstr>Calibri</vt:lpstr>
      <vt:lpstr>Office 主题​​</vt:lpstr>
      <vt:lpstr>1</vt:lpstr>
      <vt:lpstr>2026年至今发行1亿美元港股IPO项目基石投资情况概览</vt:lpstr>
      <vt:lpstr>2026年至今发行1亿美元港股IPO项目基石投资情况概览（续）</vt:lpstr>
      <vt:lpstr>2026年至今发行1亿美元港股IPO项目基石投资情况概览（续）</vt:lpstr>
      <vt:lpstr>2026年至今发行1亿美元港股IPO项目基石投资情况概览（续）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2026年至今港股发行1亿美元以上IPO项目基石投资情况概览（续）</vt:lpstr>
      <vt:lpstr>2026年至今港股发行1亿美元以上IPO项目基石投资情况概览(续)</vt:lpstr>
      <vt:lpstr>2026年至今港股发行1亿美元以上IPO项目基石投资情况概览(续)</vt:lpstr>
      <vt:lpstr>2026年至今港股发行1亿美元以上IPO项目基石投资情况概览(续)</vt:lpstr>
      <vt:lpstr>2026年至今港股发行1亿美元以上IPO项目基石投资情况概览(续)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2025年至今港股IPO项目基石投资情况概览</dc:title>
  <dc:creator>Ken Chen 陳立杰</dc:creator>
  <cp:lastModifiedBy>Nevena Xiao 肖晨希</cp:lastModifiedBy>
  <cp:revision>198</cp:revision>
  <dcterms:created xsi:type="dcterms:W3CDTF">2026-01-07T08:09:00Z</dcterms:created>
  <dcterms:modified xsi:type="dcterms:W3CDTF">2026-08-02T09:27:39Z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26B973DB3633484C813CE8EA085DF060_13</vt:lpwstr>
  </property>
  <property fmtid="{D5CDD505-2E9C-101B-9397-08002B2CF9AE}" pid="3" name="KSOProductBuildVer">
    <vt:lpwstr>2052-12.1.0.26375</vt:lpwstr>
  </property>
</Properties>
</file>