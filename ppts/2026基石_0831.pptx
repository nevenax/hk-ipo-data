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16776610" r:id="rId3"/>
    <p:sldId id="16776616" r:id="rId4"/>
    <p:sldId id="16776615" r:id="rId5"/>
    <p:sldId id="16776613" r:id="rId6"/>
    <p:sldId id="16776612" r:id="rId7"/>
    <p:sldId id="16776611" r:id="rId8"/>
    <p:sldId id="16776607" r:id="rId9"/>
    <p:sldId id="16776609" r:id="rId10"/>
    <p:sldId id="16776608" r:id="rId11"/>
    <p:sldId id="16776604" r:id="rId12"/>
    <p:sldId id="16776355" r:id="rId13"/>
    <p:sldId id="16776600" r:id="rId14"/>
    <p:sldId id="16776594" r:id="rId15"/>
    <p:sldId id="16776595" r:id="rId16"/>
    <p:sldId id="16776596" r:id="rId17"/>
    <p:sldId id="1677659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6509" autoAdjust="0"/>
  </p:normalViewPr>
  <p:slideViewPr>
    <p:cSldViewPr snapToGrid="0">
      <p:cViewPr varScale="1">
        <p:scale>
          <a:sx n="113" d="100"/>
          <a:sy n="113" d="100"/>
        </p:scale>
        <p:origin x="8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31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8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32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5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770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91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97751"/>
              </p:ext>
            </p:extLst>
          </p:nvPr>
        </p:nvGraphicFramePr>
        <p:xfrm>
          <a:off x="580549" y="933647"/>
          <a:ext cx="11229317" cy="5575935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651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9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2026-08-21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君正股份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191.65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Arrow Target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Heading Pioneer</a:t>
                      </a:r>
                      <a:r>
                        <a:rPr lang="zh-CN" altLang="en-US" sz="800" dirty="0"/>
                        <a:t>（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清华大学</a:t>
                      </a:r>
                      <a:r>
                        <a:rPr lang="zh-CN" altLang="en-US" sz="800" dirty="0"/>
                        <a:t>）</a:t>
                      </a:r>
                      <a:endParaRPr lang="en-US" altLang="zh-CN" sz="800" dirty="0"/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Emerald Prime</a:t>
                      </a:r>
                      <a:r>
                        <a:rPr lang="zh-CN" altLang="en-US" sz="700" dirty="0"/>
                        <a:t>（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创客天地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zh-CN" altLang="en-US" sz="700" dirty="0"/>
                        <a:t>（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部分通过华泰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/>
                        <a:t>）</a:t>
                      </a:r>
                      <a:endParaRPr lang="en-US" altLang="zh-CN" sz="700" dirty="0"/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19.65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327514"/>
                  </a:ext>
                </a:extLst>
              </a:tr>
              <a:tr h="20726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,814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周大福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华登科技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HK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摩根资产管理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云锋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Wellington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贝恩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&amp; Ninety One Asia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Hao Advisors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建峖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HK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泛大西洋投资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53562"/>
                  </a:ext>
                </a:extLst>
              </a:tr>
              <a:tr h="10780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22209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69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发行规模在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44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30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>
            <a:extLst>
              <a:ext uri="{FF2B5EF4-FFF2-40B4-BE49-F238E27FC236}">
                <a16:creationId xmlns:a16="http://schemas.microsoft.com/office/drawing/2014/main" id="{55DE2A67-9141-433D-93D2-E29960BCE1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3501287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172293"/>
              </p:ext>
            </p:extLst>
          </p:nvPr>
        </p:nvGraphicFramePr>
        <p:xfrm>
          <a:off x="517789" y="711008"/>
          <a:ext cx="11229317" cy="5681841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487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2643"/>
                  </a:ext>
                </a:extLst>
              </a:tr>
              <a:tr h="20092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455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，腾讯旗下）（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宏利（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77676"/>
                  </a:ext>
                </a:extLst>
              </a:tr>
              <a:tr h="193584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天壹资产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99803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AFED4A34-3115-4866-9B7D-B853456F4E7C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815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65278"/>
              </p:ext>
            </p:extLst>
          </p:nvPr>
        </p:nvGraphicFramePr>
        <p:xfrm>
          <a:off x="580549" y="541043"/>
          <a:ext cx="11229317" cy="5859383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2046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4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114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All View 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98449"/>
                  </a:ext>
                </a:extLst>
              </a:tr>
              <a:tr h="276435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（阿布扎比投资局）（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（瑞银资管）（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Polymer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109068"/>
                  </a:ext>
                </a:extLst>
              </a:tr>
              <a:tr h="195293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1874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0F12EFDE-F1F3-4752-A3EF-2401D9D2AAB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473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23831"/>
              </p:ext>
            </p:extLst>
          </p:nvPr>
        </p:nvGraphicFramePr>
        <p:xfrm>
          <a:off x="584200" y="614987"/>
          <a:ext cx="11225666" cy="5610885"/>
        </p:xfrm>
        <a:graphic>
          <a:graphicData uri="http://schemas.openxmlformats.org/drawingml/2006/table">
            <a:tbl>
              <a:tblPr/>
              <a:tblGrid>
                <a:gridCol w="53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4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755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78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6880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5,894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苏州魔速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24.75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金兴环球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Templeton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696502"/>
                  </a:ext>
                </a:extLst>
              </a:tr>
              <a:tr h="125027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2,298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富达国际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摩根资管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霸菱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广发基金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鼎晖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455"/>
                  </a:ext>
                </a:extLst>
              </a:tr>
              <a:tr h="14473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Schroder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Aspex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信安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PFG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15.04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高瓴（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Jane Street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WT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惠理（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61452"/>
                  </a:ext>
                </a:extLst>
              </a:tr>
              <a:tr h="125027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鲟龙科技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贝莱德（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Barings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Nova Kerry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ACCF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Mirae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11929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AEFCA539-1174-4D57-B76C-A04811B5E918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6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031092"/>
              </p:ext>
            </p:extLst>
          </p:nvPr>
        </p:nvGraphicFramePr>
        <p:xfrm>
          <a:off x="536288" y="663303"/>
          <a:ext cx="11229317" cy="5579373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656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3952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Oaktree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明山资本（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嘉实国际（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CDH 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鼎晖（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Eurus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Orix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清池资本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Lake Bleu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Dream‘ee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Factorial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3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81.51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腾讯（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正心谷（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3.51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GIC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22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Loomis Sayles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RTW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Symbiosis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Cormorant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Dymon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广发基金（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汇添富（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6406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1191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99.24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JSC International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金山云（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双赢科技（佰维存储）（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26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20.37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10.18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  <a:tr h="6406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PT Merdeka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托克集团（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开元矿业（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万国黄金（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嘉能可（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摩科瑞（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中伟股份（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（周大福）（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917823"/>
                  </a:ext>
                </a:extLst>
              </a:tr>
              <a:tr h="6406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1054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406.9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荣耀（深圳国资委）（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宏兴国际（胜宏科技）（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（旺旺家办）（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舜宇光学（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Ti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-Capital Funds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03751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DD2CFA47-262F-0418-4413-2090F36AFD1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345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96563"/>
              </p:ext>
            </p:extLst>
          </p:nvPr>
        </p:nvGraphicFramePr>
        <p:xfrm>
          <a:off x="523880" y="649481"/>
          <a:ext cx="11186777" cy="5707400"/>
        </p:xfrm>
        <a:graphic>
          <a:graphicData uri="http://schemas.openxmlformats.org/drawingml/2006/table">
            <a:tbl>
              <a:tblPr/>
              <a:tblGrid>
                <a:gridCol w="5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3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9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090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3661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圣邦微电子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Ocean Fine Industrial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软通动力（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Sentier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（三菱）（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Continent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（金洲证券）（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982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207.01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海燿实业（通富微电子）（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芯耀投资（合肥国资委）（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永联投资（永卓控股）（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Monterey Park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（臻鼎科技）（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9.51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Lion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景林（通过中金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Victorious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  <a:tr h="109982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956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山东国惠（山东省国资委）（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（东方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66626"/>
                  </a:ext>
                </a:extLst>
              </a:tr>
              <a:tr h="109982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2335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启源香港（山西省国资委）（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44.38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云顶新耀（康桥资本）（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顺鸣资本（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48439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2026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年至今港股发行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亿美元以上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IPO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C9691A86-719D-7216-5EA7-C034CE02AF4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584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16753"/>
              </p:ext>
            </p:extLst>
          </p:nvPr>
        </p:nvGraphicFramePr>
        <p:xfrm>
          <a:off x="523880" y="555934"/>
          <a:ext cx="11425030" cy="6031230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5556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5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6106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元宝家办（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瑞华投资（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ACCF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611"/>
                  </a:ext>
                </a:extLst>
              </a:tr>
              <a:tr h="83786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欣旺达（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2.42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晶科能源（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5.2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7.7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5.8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淡水泉（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高腾（中金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Mondeomax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Bona Star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9.75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深三和（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SHEEN NATION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陈峰（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5366"/>
                  </a:ext>
                </a:extLst>
              </a:tr>
              <a:tr h="3845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凯博（宣城市国资委）（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睿远基金（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清池资本（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Sage Partners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盘京基金（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70692"/>
                  </a:ext>
                </a:extLst>
              </a:tr>
              <a:tr h="6111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</a:t>
                      </a: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331815"/>
                  </a:ext>
                </a:extLst>
              </a:tr>
              <a:tr h="76230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2300"/>
                  </a:ext>
                </a:extLst>
              </a:tr>
              <a:tr h="91341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553739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71EB168-4FA7-42A0-81B4-1591AF62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3648706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92DF1599-92B3-4D1B-9D1E-E55D3DB7A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4646653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3FE13AA-62B9-0944-97ED-5EE36C79012A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9297"/>
              </p:ext>
            </p:extLst>
          </p:nvPr>
        </p:nvGraphicFramePr>
        <p:xfrm>
          <a:off x="523880" y="582430"/>
          <a:ext cx="11425030" cy="5810421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977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（45.5）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（5.07）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140917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3146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77682"/>
                  </a:ext>
                </a:extLst>
              </a:tr>
              <a:tr h="3601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133"/>
                  </a:ext>
                </a:extLst>
              </a:tr>
              <a:tr h="18754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8301"/>
                  </a:ext>
                </a:extLst>
              </a:tr>
              <a:tr h="314684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90737"/>
                  </a:ext>
                </a:extLst>
              </a:tr>
              <a:tr h="8263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长沙雨丰（长沙雨花区政府）（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6.99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蓝思科技（香港）（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黄雪林（胜蓝科技）（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6.51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785347"/>
                  </a:ext>
                </a:extLst>
              </a:tr>
            </a:tbl>
          </a:graphicData>
        </a:graphic>
      </p:graphicFrame>
      <p:pic>
        <p:nvPicPr>
          <p:cNvPr id="8" name="图片 17">
            <a:extLst>
              <a:ext uri="{FF2B5EF4-FFF2-40B4-BE49-F238E27FC236}">
                <a16:creationId xmlns:a16="http://schemas.microsoft.com/office/drawing/2014/main" id="{EDBBC21B-DB0B-46F0-A78A-31234DFCC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54800" y="917998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64402855-157B-11D9-6E32-A61FD2C44F8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935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04276"/>
              </p:ext>
            </p:extLst>
          </p:nvPr>
        </p:nvGraphicFramePr>
        <p:xfrm>
          <a:off x="523878" y="799153"/>
          <a:ext cx="11425030" cy="5458523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7901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2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）（亦庄财政国资局）（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Mega Prime &amp; Poly Platinum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3789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31.57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4922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山东国惠（山东省国资委）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  <a:tr h="23989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联想（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上海中移基金（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8003"/>
                  </a:ext>
                </a:extLst>
              </a:tr>
              <a:tr h="1338031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（小米）（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艾唯技术（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39580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05FAD800-923C-1C2E-2308-6654254551A5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80584"/>
              </p:ext>
            </p:extLst>
          </p:nvPr>
        </p:nvGraphicFramePr>
        <p:xfrm>
          <a:off x="634703" y="788277"/>
          <a:ext cx="11146632" cy="5008224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4127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54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79288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4320" y="2986429"/>
            <a:ext cx="423963" cy="382160"/>
          </a:xfrm>
          <a:prstGeom prst="rect">
            <a:avLst/>
          </a:prstGeom>
        </p:spPr>
      </p:pic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id="{EBBE1EF0-C97F-F8DF-DA17-DC1A9B044E6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49268"/>
              </p:ext>
            </p:extLst>
          </p:nvPr>
        </p:nvGraphicFramePr>
        <p:xfrm>
          <a:off x="524044" y="792560"/>
          <a:ext cx="11155634" cy="5632792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920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3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未来香港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钟鼎资本八期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宁远资本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源码资本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1.73</a:t>
                      </a:r>
                      <a:r>
                        <a:rPr lang="zh-CN" alt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招证投资（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224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上海陆家嘴（浦东国资委）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（国泰君安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28.89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正大机器人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Aranda Investments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（淡马锡）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太保资管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景林资管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HuadengTechnology（10）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  <a:tr h="1242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全顺（顺德国资委）（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 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TRS）（5.8）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Eternal Summer 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Shrewd Pioneer 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 Technology （3）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晟信集团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62865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D2216EB-FF6F-B8ED-FD7E-76E14C79A42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8087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14709"/>
              </p:ext>
            </p:extLst>
          </p:nvPr>
        </p:nvGraphicFramePr>
        <p:xfrm>
          <a:off x="383484" y="630281"/>
          <a:ext cx="11357949" cy="5627396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677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厦门先进制造业基金（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100.72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7552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360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名幸电子香港有限公司（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锐明电子有限公司（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宝月湖深产投共赢企业管理有限公司（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中兴有限公司（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清华教育基金会（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开盘财富管理有限公司（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周增昌（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1525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太湖金谷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 Technology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联城集团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拓斯达（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 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 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 Trading （3）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双诚资本（通过建投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恒邦私募（通过银河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雾淞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万源资本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sz="700" b="1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4722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亨通光电国际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至源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裕祥（网誉科技）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Harvest Oriental 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前海合眾投資 （</a:t>
                      </a:r>
                      <a:r>
                        <a:rPr lang="en-US" altLang="zh-TW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  <a:tr h="1525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江西省政府 （江西铜业）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惠州国资委 （惠州惠联）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25.7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山东发展投资控股集团 （国惠香港）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璞信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深圳新宙邦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深圳新世界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高时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Korea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Gallatlion Resources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易亚投资管理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前海辰星投资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36371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512" y="1623338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512" y="4325317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532D4CCE-1E79-9FED-3AC7-BEE372F58F63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8943"/>
              </p:ext>
            </p:extLst>
          </p:nvPr>
        </p:nvGraphicFramePr>
        <p:xfrm>
          <a:off x="529839" y="749910"/>
          <a:ext cx="11149839" cy="5571377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280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1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0470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欧万达基金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无锡金筹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国泰海通）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44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Investment Fund SPC） （27）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雅戈尔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德赛西威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均胜电子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豪恩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TRS-CICC FT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观澜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4098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  <a:tr h="96540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河南省国资委（香港豫农国际）（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4883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142380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7456EEE5-35D6-D288-DBA5-DA4128461C2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738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08687"/>
              </p:ext>
            </p:extLst>
          </p:nvPr>
        </p:nvGraphicFramePr>
        <p:xfrm>
          <a:off x="524044" y="595246"/>
          <a:ext cx="11155634" cy="5943856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（宏兴国际）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（通过中金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（利冠）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10.26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14.11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5.13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1.92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Al-Rayyan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 Investment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（太白及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Company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Great China Motivation Fund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（8）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15.5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272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96692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1708B36-27F4-8A65-9041-7A824ED06C8F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30410"/>
              </p:ext>
            </p:extLst>
          </p:nvPr>
        </p:nvGraphicFramePr>
        <p:xfrm>
          <a:off x="581114" y="712615"/>
          <a:ext cx="11098564" cy="542579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198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8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31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69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（30）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（10）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（8）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（2）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810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宁波国资委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Investment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25.71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33.68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浦东科创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12685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2.42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Sabre） （20）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（10）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（12.1）</a:t>
                      </a: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（10）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（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（20）</a:t>
                      </a: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（4）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（10.1）</a:t>
                      </a: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  <a:tr h="92468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北京市国资委（璟泉启智（北京））（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进益（天津）资产管理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44.9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5945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351175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FAF46182-5581-350F-09FF-AD3E2D679AB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69526"/>
              </p:ext>
            </p:extLst>
          </p:nvPr>
        </p:nvGraphicFramePr>
        <p:xfrm>
          <a:off x="524044" y="611823"/>
          <a:ext cx="11155634" cy="311228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Master Fund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保诚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Martis Fund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盘京投资 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蔡东晨（石药集团执行董事长）（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 dirty="0">
                <a:ea typeface="+mn-ea"/>
                <a:cs typeface="+mn-ea"/>
                <a:sym typeface="+mn-lt"/>
              </a:rPr>
              <a:t>（续）</a:t>
            </a: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2914040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C47FC09-1FF9-E138-E703-EA6E58CA303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31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8189</Words>
  <Application>Microsoft Office PowerPoint</Application>
  <PresentationFormat>Widescreen</PresentationFormat>
  <Paragraphs>1653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等线</vt:lpstr>
      <vt:lpstr>等线 Light</vt:lpstr>
      <vt:lpstr>微软雅黑</vt:lpstr>
      <vt:lpstr>Arial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Nevena Xiao 肖晨希</cp:lastModifiedBy>
  <cp:revision>214</cp:revision>
  <dcterms:created xsi:type="dcterms:W3CDTF">2026-01-07T08:09:00Z</dcterms:created>
  <dcterms:modified xsi:type="dcterms:W3CDTF">2026-09-08T09:41:05Z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