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handoutMasterIdLst>
    <p:handoutMasterId r:id="rId21"/>
  </p:handoutMasterIdLst>
  <p:sldIdLst>
    <p:sldId id="16776620" r:id="rId3"/>
    <p:sldId id="16776610" r:id="rId4"/>
    <p:sldId id="16776617" r:id="rId5"/>
    <p:sldId id="16776613" r:id="rId6"/>
    <p:sldId id="16776612" r:id="rId7"/>
    <p:sldId id="16776611" r:id="rId8"/>
    <p:sldId id="16776607" r:id="rId9"/>
    <p:sldId id="16776609" r:id="rId10"/>
    <p:sldId id="16776604" r:id="rId11"/>
    <p:sldId id="16776355" r:id="rId12"/>
    <p:sldId id="16776600" r:id="rId13"/>
    <p:sldId id="16776619" r:id="rId14"/>
    <p:sldId id="16776594" r:id="rId15"/>
    <p:sldId id="16776595" r:id="rId16"/>
    <p:sldId id="16776596" r:id="rId17"/>
    <p:sldId id="16776597" r:id="rId18"/>
    <p:sldId id="1677661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F capital" initials="GF" lastIdx="0" clrIdx="0"/>
  <p:cmAuthor id="2" name="User" initials="e" lastIdx="0" clrIdx="1"/>
  <p:cmAuthor id="3" name="Ken Chen 陳立杰" initials="KC陳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41" autoAdjust="0"/>
    <p:restoredTop sz="96509" autoAdjust="0"/>
  </p:normalViewPr>
  <p:slideViewPr>
    <p:cSldViewPr snapToGrid="0">
      <p:cViewPr varScale="1">
        <p:scale>
          <a:sx n="119" d="100"/>
          <a:sy n="119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62C7B-A040-C080-A837-3291463C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546C41-A040-DFD7-3D3F-3175A36F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C1925F-E554-4703-759B-09DD296C8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BFAD1E-AAAD-6710-99A0-B6264C325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842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CB1A-4EDC-9529-7DDF-015344CB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44654A-3A16-6814-1424-4AFBF0B03FFD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3405931"/>
              </p:ext>
            </p:extLst>
          </p:nvPr>
        </p:nvGraphicFramePr>
        <p:xfrm>
          <a:off x="481330" y="821158"/>
          <a:ext cx="11189181" cy="5869140"/>
        </p:xfrm>
        <a:graphic>
          <a:graphicData uri="http://schemas.openxmlformats.org/drawingml/2006/table">
            <a:tbl>
              <a:tblPr/>
              <a:tblGrid>
                <a:gridCol w="52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5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5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0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70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515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31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6599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8436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9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1322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61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3801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2026-10-28</a:t>
                      </a:r>
                    </a:p>
                  </a:txBody>
                  <a:tcPr marL="24000" marR="24000" marT="12000" marB="1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+mn-ea"/>
                        </a:rPr>
                        <a:t>2384</a:t>
                      </a:r>
                    </a:p>
                  </a:txBody>
                  <a:tcPr marL="24000" marR="24000" marT="12000" marB="1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东山精密</a:t>
                      </a:r>
                    </a:p>
                  </a:txBody>
                  <a:tcPr marL="24000" marR="24000" marT="12000" marB="1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24000" marR="24000" marT="12000" marB="1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+mn-ea"/>
                        </a:rPr>
                        <a:t>1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+mn-ea"/>
                        </a:rPr>
                        <a:t>,260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24000" marR="24000" marT="12000" marB="1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+mn-ea"/>
                        </a:rPr>
                        <a:t>629.91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24000" marR="24000" marT="12000" marB="1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+mn-ea"/>
                        </a:rPr>
                        <a:t>50%</a:t>
                      </a:r>
                    </a:p>
                  </a:txBody>
                  <a:tcPr marL="24000" marR="24000" marT="12000" marB="1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1291" marR="11291" marT="112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一村资本（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11291" marR="11291" marT="1129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摩根资管（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75.1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睿远基金（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东方资管（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15052" marR="15052" marT="150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150.18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45.05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永联投资（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37.28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澜起科技（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25.03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晶合集成（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19.02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飞速创新（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5052" marR="15052" marT="1505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38.05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LMR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30.04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简街（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Spring River Greater China Fund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（由罗彭伟先生个人全资持有）（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天弘基金（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新华资管（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罗仲立先生（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15.02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16933" marR="16933" marT="16933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+mn-ea"/>
                        </a:rPr>
                        <a:t>69%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95962"/>
                  </a:ext>
                </a:extLst>
              </a:tr>
              <a:tr h="639687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2026-10-15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2636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传音控股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390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37%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易方达（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Digimoc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（联发科）（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金兴环球（比亚迪）（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科宇盛达（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江波龙（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宏芯宇（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5.1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才华资本（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奇点资产（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中银理财（</a:t>
                      </a:r>
                      <a:r>
                        <a:rPr lang="en-HK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558623"/>
                  </a:ext>
                </a:extLst>
              </a:tr>
              <a:tr h="541888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2026-10-09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1256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奕斯伟计算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319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151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46%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合肥建投（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22.49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亦庄国投（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45.24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中信资管（越秀资本）（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 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通富（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20.15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颀中国际（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9.75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大湾区共同家园投资（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15.34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德霖资源（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4.29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沙砾资管（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7.8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73%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986234"/>
                  </a:ext>
                </a:extLst>
              </a:tr>
              <a:tr h="1106342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spc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3228</a:t>
                      </a:r>
                      <a:endParaRPr lang="en-US" altLang="zh-CN" sz="700" b="0" spc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景旺电子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48%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（25）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中际旭创（50）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香港麦逊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CIG（30）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KHL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建滔集团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 Redwood（50）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奇点资产（25）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博时国际（20）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 Grand（15）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 Fund（10）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 One Asia（10）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 AM（5）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52%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6342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3757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罗博特科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232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CIG（10）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淡马锡（45）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夏胜利（7）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郑宵峰（2.8）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晟天实业（40）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Sino Opulence 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（利欧集团）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（4）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Winner Global 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胜利证券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 Sabre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WSOF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承珩（</a:t>
                      </a:r>
                      <a:r>
                        <a:rPr lang="zh-CN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Zhang Xiaochun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Arrowpoint（7.5）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路华资产管理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（3.1）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Bloom Capital（3）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赖柏霖（30）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朱国栋（5）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340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6731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本末科技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.36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香港科创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（东莞国资委）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（38.87）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（北京经开区财政国资局</a:t>
                      </a:r>
                      <a:r>
                        <a:rPr lang="en-GB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（22.49）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799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2026-09-29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9607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彤程新材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6.7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浦林成山香港（5.6）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信银投资（18）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Happy Wisdom（15）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周波（8）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满帮（20）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正心谷（10）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Goldshore（45）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杨全海（5）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标题 10">
            <a:extLst>
              <a:ext uri="{FF2B5EF4-FFF2-40B4-BE49-F238E27FC236}">
                <a16:creationId xmlns:a16="http://schemas.microsoft.com/office/drawing/2014/main" id="{BC6002AC-21D8-55E7-33C8-D260F9F92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>
            <a:extLst>
              <a:ext uri="{FF2B5EF4-FFF2-40B4-BE49-F238E27FC236}">
                <a16:creationId xmlns:a16="http://schemas.microsoft.com/office/drawing/2014/main" id="{6739A45C-AAE9-1D22-3996-D389984D2B73}"/>
              </a:ext>
            </a:extLst>
          </p:cNvPr>
          <p:cNvSpPr txBox="1"/>
          <p:nvPr/>
        </p:nvSpPr>
        <p:spPr>
          <a:xfrm>
            <a:off x="393856" y="453720"/>
            <a:ext cx="1141601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2026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IPO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项目基石的积极度显著提升，特别是对于估值合理的优质项目参与比例较高</a:t>
            </a: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2026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年至今共有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80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家发行规模在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亿美元以上的港股</a:t>
            </a:r>
            <a:r>
              <a:rPr lang="en-US" altLang="zh-CN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IPO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上市公司引入基石投资者，基石投资者占发行规模的平均比例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为</a:t>
            </a:r>
            <a:r>
              <a:rPr lang="en-US" altLang="zh-CN" sz="1000" kern="0" dirty="0">
                <a:latin typeface="Calibri" panose="020F0502020204030204"/>
                <a:cs typeface="+mn-ea"/>
                <a:sym typeface="+mn-lt"/>
              </a:rPr>
              <a:t>47%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，</a:t>
            </a:r>
            <a:r>
              <a:rPr lang="zh-CN" altLang="en-US" sz="1000" kern="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基石中非纯财务投资者平均比例</a:t>
            </a:r>
            <a:r>
              <a:rPr lang="zh-CN" altLang="en-US" sz="1000" kern="0" dirty="0">
                <a:latin typeface="Calibri" panose="020F0502020204030204"/>
                <a:cs typeface="+mn-ea"/>
                <a:sym typeface="+mn-lt"/>
              </a:rPr>
              <a:t>为</a:t>
            </a:r>
            <a:r>
              <a:rPr lang="en-US" altLang="zh-CN" sz="1000" kern="0">
                <a:latin typeface="Calibri" panose="020F0502020204030204"/>
                <a:cs typeface="+mn-ea"/>
                <a:sym typeface="+mn-lt"/>
              </a:rPr>
              <a:t>24%</a:t>
            </a:r>
            <a:endParaRPr lang="en-US" sz="1000" kern="0" dirty="0">
              <a:latin typeface="Calibri" panose="020F0502020204030204"/>
              <a:cs typeface="+mn-ea"/>
              <a:sym typeface="+mn-lt"/>
            </a:endParaRPr>
          </a:p>
        </p:txBody>
      </p:sp>
      <p:sp>
        <p:nvSpPr>
          <p:cNvPr id="12" name="文字版面配置區 3">
            <a:extLst>
              <a:ext uri="{FF2B5EF4-FFF2-40B4-BE49-F238E27FC236}">
                <a16:creationId xmlns:a16="http://schemas.microsoft.com/office/drawing/2014/main" id="{03035CD9-D85F-3D93-7D41-9932597A7E08}"/>
              </a:ext>
            </a:extLst>
          </p:cNvPr>
          <p:cNvSpPr txBox="1"/>
          <p:nvPr/>
        </p:nvSpPr>
        <p:spPr>
          <a:xfrm>
            <a:off x="419933" y="6690298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8" name="图片 17">
            <a:extLst>
              <a:ext uri="{FF2B5EF4-FFF2-40B4-BE49-F238E27FC236}">
                <a16:creationId xmlns:a16="http://schemas.microsoft.com/office/drawing/2014/main" id="{713E0A92-52DB-4593-A86F-BE6A74859D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57667" y="1707349"/>
            <a:ext cx="317972" cy="286620"/>
          </a:xfrm>
          <a:prstGeom prst="rect">
            <a:avLst/>
          </a:prstGeom>
        </p:spPr>
      </p:pic>
      <p:pic>
        <p:nvPicPr>
          <p:cNvPr id="9" name="图片 17">
            <a:extLst>
              <a:ext uri="{FF2B5EF4-FFF2-40B4-BE49-F238E27FC236}">
                <a16:creationId xmlns:a16="http://schemas.microsoft.com/office/drawing/2014/main" id="{B0937E44-6783-47A2-AAD1-B6387252EF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59797" y="2734820"/>
            <a:ext cx="317972" cy="286620"/>
          </a:xfrm>
          <a:prstGeom prst="rect">
            <a:avLst/>
          </a:prstGeom>
        </p:spPr>
      </p:pic>
      <p:pic>
        <p:nvPicPr>
          <p:cNvPr id="10" name="图片 17">
            <a:extLst>
              <a:ext uri="{FF2B5EF4-FFF2-40B4-BE49-F238E27FC236}">
                <a16:creationId xmlns:a16="http://schemas.microsoft.com/office/drawing/2014/main" id="{E31F9422-7B90-445F-9106-50E097D6D4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59797" y="3361620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18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6457441"/>
              </p:ext>
            </p:extLst>
          </p:nvPr>
        </p:nvGraphicFramePr>
        <p:xfrm>
          <a:off x="523880" y="646222"/>
          <a:ext cx="11229340" cy="6069206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00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03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911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55701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93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1456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2026-09-22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9856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纳真科技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737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340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47%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P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rimavera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 Investment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中信建投自营（通过中信建投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TRS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A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mbre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 Lau Trade Limited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兆易创新（10）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晶晨半导体（10）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中芯聚源（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HK BVF I LPF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东方资管（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ount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Altai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eak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View Capital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华丰国际（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SCV D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elta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PAG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高腾资管（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tlas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Venture Limited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（德同资本）（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arings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890586"/>
                  </a:ext>
                </a:extLst>
              </a:tr>
              <a:tr h="884453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2026-09-08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9976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江波龙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920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151.13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19%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传音国际（25）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联想（10）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蓝思科技（10）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君正（10）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七彩虹科技（9.72）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宏芯宇（7.25）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华曦达（2.59）</a:t>
                      </a: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8" marR="8468" marT="846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中信资管香港（19.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43</a:t>
                      </a:r>
                      <a:r>
                        <a:rPr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altLang="zh-CN" sz="7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AHGO SPC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（TCL）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（12.75）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巨源国际（10）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常青科技（5）</a:t>
                      </a:r>
                    </a:p>
                  </a:txBody>
                  <a:tcPr marL="11289" marR="11289" marT="11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裕丰（20）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 Technology（5）</a:t>
                      </a:r>
                      <a:b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（周大福）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（5）</a:t>
                      </a:r>
                    </a:p>
                  </a:txBody>
                  <a:tcPr marL="12700" marR="12700" marT="1270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81%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271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2026-09-01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0625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希音-W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1,768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Boyu（150）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Tiger Global（53）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General Atlantic（50）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景林（30）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腾讯（50）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泰康人寿（30）</a:t>
                      </a:r>
                    </a:p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 AM Singapore（20）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0010"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2026-09-01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梅卡曼德机器人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TMT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Golden Link（比亚迪全资附属）（6）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Baillie Gifford（60）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泰康人寿（40）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Invus（15）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Jane Street（15）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Ghisallo（15）</a:t>
                      </a: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Ruihua（15）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NGS Super Fund（10）</a:t>
                      </a:r>
                    </a:p>
                    <a:p>
                      <a:pPr algn="ctr" defTabSz="914400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易方达（10）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521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2026-08-25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君正股份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191.65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47%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Arrow Target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Heading Pioneer</a:t>
                      </a:r>
                      <a:r>
                        <a:rPr lang="zh-CN" altLang="en-US" sz="8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清华大学</a:t>
                      </a:r>
                      <a:r>
                        <a:rPr lang="zh-CN" altLang="en-US" sz="8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8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Emerald Prime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创客天地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部分通过华泰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dirty="0"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19.65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Dream‘eeHK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ea typeface="楷体" panose="02010609060101010101" pitchFamily="49" charset="-122"/>
                <a:cs typeface="+mn-ea"/>
                <a:sym typeface="+mn-lt"/>
              </a:rPr>
              <a:t>（续）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90298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6" name="图片 17">
            <a:extLst>
              <a:ext uri="{FF2B5EF4-FFF2-40B4-BE49-F238E27FC236}">
                <a16:creationId xmlns:a16="http://schemas.microsoft.com/office/drawing/2014/main" id="{8EC0F707-B12B-4068-8FED-40BF735FDE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184191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5381503"/>
              </p:ext>
            </p:extLst>
          </p:nvPr>
        </p:nvGraphicFramePr>
        <p:xfrm>
          <a:off x="580390" y="711200"/>
          <a:ext cx="11229340" cy="5255895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中际旭创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6,814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3,450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周大福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华登科技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阿布扎比投资局 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澳大利亚养老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加拿大养老金 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CPP Investments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摩根资产管理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云锋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Wellington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Indus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贝恩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 &amp; Ninety One Asia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Tairen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Advisors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建峖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Trivest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Burkehill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泛大西洋投资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30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晶合集成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446.2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集创（含合肥集创香港及集创香港）（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51.36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智感微电子（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歌尔泰克（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璞新科技（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50.84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奇瑞汽车（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汇添富（香港）（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NGS Super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6745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滨化股份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49.8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Aurora</a:t>
                      </a:r>
                      <a:r>
                        <a:rPr lang="zh-CN" altLang="en-US" sz="700" b="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（滨州国资委）（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中国宏桥（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北京益安（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Hyperion Venture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天图科技（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盛威（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 dirty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 dirty="0">
                <a:ea typeface="楷体" panose="02010609060101010101" pitchFamily="49" charset="-122"/>
                <a:cs typeface="+mn-ea"/>
                <a:sym typeface="+mn-lt"/>
              </a:rPr>
              <a:t>项目基石投资情况概览（续）</a:t>
            </a:r>
            <a:endParaRPr lang="zh-CN" altLang="en-US" kern="0" dirty="0">
              <a:latin typeface="+mn-lt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01961" y="2322727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4200" y="614680"/>
          <a:ext cx="11225530" cy="5951220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0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89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46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立讯精密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3,155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1,500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48%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CPPIB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（通过高瓴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SMA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Neem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Foresight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（阿布扎比投资局）（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（瑞银资管）（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瀚亚（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三菱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千禧年（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Polymer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64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6951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三环集团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931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Metazone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River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晋达（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Alibaba Investment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黄河（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Huang River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，腾讯旗下）（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GSAM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宏利（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珞石机器人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35.08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金融街资本（国务院国资委）（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12.09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All View Fund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81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0537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普源精电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61.28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苏州高新区（太湖金谷及科发集团）（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华圆（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高领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中信保诚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1.78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彭年集团（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Purple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Diamond Ltd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+mn-lt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6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2243987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6575" y="663575"/>
          <a:ext cx="11229340" cy="6021705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1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3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9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1377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鼎泰高科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254.04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建滔投资（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定颖控投（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8.04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INVESTMENT XV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ATHOS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VED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千禧管理（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IFUND SPC-Vision IX SP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霸菱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天壹资产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7-08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6880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MOMENTA-W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苏州魔速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24.75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梅赛德斯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奔驰集团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金兴环球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兆易创新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BlackRock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Franklin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Templeton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/Arcane Nexus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中国太保（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6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7687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易控智驾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紫金矿业（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（徐工集团）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富达国际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FIL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霸菱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Indus Funds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Jain Global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Regal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广发基金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鼎晖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CDH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Seven Grand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3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2026-07-02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0668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安克创新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Schroder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Aspex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信安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PFG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TRS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高瓴（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UBS GAM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Jane Street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泰康（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WT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惠理（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鲟龙科技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78.5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贝莱德（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Barings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TRS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Nova Kerry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ACCF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Mirae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649605"/>
          <a:ext cx="11186795" cy="6030172"/>
        </p:xfrm>
        <a:graphic>
          <a:graphicData uri="http://schemas.openxmlformats.org/drawingml/2006/table">
            <a:tbl>
              <a:tblPr/>
              <a:tblGrid>
                <a:gridCol w="53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1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7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来福谐波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明山资本（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CDH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鼎晖（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Eurus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清池资本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Lake Bleu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Dream‘ee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Factorial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Oasis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64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礼邦医药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81.51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dirty="0">
                        <a:solidFill>
                          <a:schemeClr val="tx1"/>
                        </a:solidFill>
                        <a:latin typeface="Arial Unicode MS" panose="020B0604020202020204" charset="-122"/>
                        <a:ea typeface="楷体" panose="02010609060101010101" pitchFamily="49" charset="-122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正心谷（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3.51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Loomis Sayles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12.5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RTW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Symbiosis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Cormorant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汇添富（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5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1191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海光芯正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99.24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JSC International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（北京国资委）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金山云（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5.09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双赢科技（佰维存储）（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20.37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10.18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易方达（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5.09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33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PT Merdeka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托克集团（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开元矿业（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万国黄金（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嘉能可（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摩科瑞（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中伟股份（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平安资管（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（周大福）（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97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1688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领益智造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1054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406.9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荣耀（深圳国资委）（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宏兴国际（胜宏科技）（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（旺旺家办）（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舜宇光学（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Ti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-Capital Funds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29.9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9630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芯碁微装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207.01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澜起科技（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海燿实业（通富微电子）（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芯耀投资（合肥国资委）（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晶合集成（合肥国资委）（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永联投资（永卓控股）（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Monterey Park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（臻鼎科技）（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9.51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Lion Global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Victorious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55625"/>
          <a:ext cx="11424920" cy="5274945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4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3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31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3661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圣邦股份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Ocean Fine Industrial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（通富微电子）（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软通动力（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First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Sentier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（三菱）（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Continent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（金洲证券）（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高瓴（代表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CPPIB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6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956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中科闻歌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山东国惠（山东省国资委）（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Orient Enhanced Income Fund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（东方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民银投资（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2335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麦科奥特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启源香港（山西省国资委）（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44.38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云顶新耀（康桥资本）（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顺鸣资本（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6106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仙工智能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元宝家办（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瑞华投资（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ACCF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3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星源材质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77.52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欣旺达（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2.42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晶科能源（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5.2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富国基金（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7.7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5.8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淡水泉（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高腾（中金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Mondeomax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13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Bona Star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9.75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深三和（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6.5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SHEEN NATION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陈峰（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82295"/>
          <a:ext cx="11424920" cy="5594985"/>
        </p:xfrm>
        <a:graphic>
          <a:graphicData uri="http://schemas.openxmlformats.org/drawingml/2006/table">
            <a:tbl>
              <a:tblPr/>
              <a:tblGrid>
                <a:gridCol w="6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5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7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6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60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39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6132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华健未来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凯博（宣城市国资委）（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睿远基金（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清池资本（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Sage Partners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盘京基金（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泰康人寿（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3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+mn-cs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9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2026-06-17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6675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琻捷电子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隆威香港（保隆汽车）（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3.06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9.57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David </a:t>
                      </a: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阎焱（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2.04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（李锋）（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3.90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（庄家颖）（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63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1779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天辰生物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睿郡资产（华泰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（张国锋）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源峰（银河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2026-06-05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1081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大金重工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3388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创想三维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179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88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+mn-ea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中信兴业（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CPE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Martis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（天壹）（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博约基金（盈峰）（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GBAHIL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Crestline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Oasis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Jump Trading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Polymer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鼎鑫证券（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Colloway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Seven Grand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Millennium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Optimas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Calibri" panose="020F0502020204030204" charset="0"/>
                        </a:rPr>
                        <a:t>2)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1615436"/>
            <a:ext cx="317972" cy="286620"/>
          </a:xfrm>
          <a:prstGeom prst="rect">
            <a:avLst/>
          </a:prstGeom>
        </p:spPr>
      </p:pic>
      <p:pic>
        <p:nvPicPr>
          <p:cNvPr id="9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466" y="2613383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5000" y="788035"/>
          <a:ext cx="11146790" cy="5697855"/>
        </p:xfrm>
        <a:graphic>
          <a:graphicData uri="http://schemas.openxmlformats.org/drawingml/2006/table">
            <a:tbl>
              <a:tblPr/>
              <a:tblGrid>
                <a:gridCol w="591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09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855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871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+mn-ea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云英谷科技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Digital Vista GD Investment LP 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（45.5）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Limited （5.07）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7688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拓璞数控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上海闵行（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信庭基金（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富国（富国基金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20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1511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驭势科技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雄安自动驾驶（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29.08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CYGG （58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集团）（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1.02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International A LPF（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洪泰证券）（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3.86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64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7666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剂泰科技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国风投创新投（国资委）（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Deerfield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Isometry Global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工银瑞信实体（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Lake Bleu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Sage Partners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ORIX Asia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21" name="图片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15760" y="1616498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792480"/>
          <a:ext cx="11155680" cy="5702300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14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519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33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097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7630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英派药业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BPV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（通过华泰资本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12.25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腾讯控股（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9.99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WWHCP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Exome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First Quarter Moon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（上弦月资管）（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1236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乐动机器人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（诸暨市财政局）（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36.01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75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1187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可孚医疗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长沙雨丰（长沙雨花区政府）（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6.99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蓝思科技（香港）（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香港汉清达（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中康科技（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黄雪林（胜蓝科技）（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远信投资（通过银河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6.51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戴钧安（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陆勤超（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2026-05-05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1609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天星医疗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JSC International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SP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）（亦庄财政国资局）（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奥博亚洲四期（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Mega Prime &amp; Poly Platinum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0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6810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商米科技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-W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31.57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63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1879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曦智科技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联想（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中兴通讯（香港）（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富达国际（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上海中移基金（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未来资产证券（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平安资产管理（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1991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3540" y="488315"/>
          <a:ext cx="11358245" cy="5897245"/>
        </p:xfrm>
        <a:graphic>
          <a:graphicData uri="http://schemas.openxmlformats.org/drawingml/2006/table">
            <a:tbl>
              <a:tblPr/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49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2493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迈威生物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endParaRPr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山东国惠（山东省国资委）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君实香港（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昌荣国际（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649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3296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华勤技术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豪威集团（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（小米）（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宏兴国际（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艾唯技术（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Aurora SF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（晶合集成）（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建滔投资（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25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香港君正（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68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JinYi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80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2026-04-21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2476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胜宏科技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大族数控（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华勤新加坡（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Hesai HK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惠州国投（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28.75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叶国富（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正大集团（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Yunfeng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旺旺家办（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阳光人寿（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涌容资产管理（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博时国际（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信银投资（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大湾区共同家园投资（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天弘基金（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奇点资产（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光大理财（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Asset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周大福家办（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4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65445" y="462320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1991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3540" y="587711"/>
          <a:ext cx="11358245" cy="5435864"/>
        </p:xfrm>
        <a:graphic>
          <a:graphicData uri="http://schemas.openxmlformats.org/drawingml/2006/table">
            <a:tbl>
              <a:tblPr/>
              <a:tblGrid>
                <a:gridCol w="59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0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10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966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065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群核科技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700" b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(3)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15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2026-04-17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3277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长光辰芯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未来香港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钟鼎资本八期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宁远资本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源码资本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华夏基金（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1.73</a:t>
                      </a:r>
                      <a:r>
                        <a:rPr lang="zh-CN" altLang="it-IT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招证投资（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2026-04-16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6656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思格新能源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上海陆家嘴（浦东国资委）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（国泰君安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28.89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正大机器人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Aranda Investments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（淡马锡）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高盛资产管理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Lazurite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太保资管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景林资管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HuadengTechnology（10）</a:t>
                      </a:r>
                    </a:p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（高毅）（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TROPICAL TERRAIN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8239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9590" y="466725"/>
          <a:ext cx="11149965" cy="5787528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9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75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299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8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2726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瀚天天成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厦门先进制造业基金（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100.72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82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2026-03-30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1021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华沿机器人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全顺（顺德国资委）（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 （30）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MSIP （10）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灏浚投资（通过华泰</a:t>
                      </a: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TRS）（5.8）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Eternal Summer （5）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Shrewd Pioneer （5）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VVC Technology （3）</a:t>
                      </a:r>
                    </a:p>
                    <a:p>
                      <a:pPr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晟信集团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73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3355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飞速创新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Aether Wave Fund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SCGC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资本（6.41）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Great Holding（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袁永刚）（14.47）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Fund（Hao Advisors）（20）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 Asset Management（10）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Caitong SEIII（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财通资管香港）（9.61）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翠鸣系（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掉期通道合并）（7.18）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前瞻（6.41）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GF Fund HK（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广发基金香港）（5）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凯鹰系（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掉期通道合并）（3.84）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Wider Hugs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Laurena Wu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（1.3）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2701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国民技术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国华人寿（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6.5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Harvest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5.2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戴婉琴（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3.9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安江波（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欣旺达（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1.3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ea"/>
                        </a:rPr>
                        <a:t>0%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7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2026-03-20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1989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广合科技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惠理（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it-IT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霸菱（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97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3268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美格智能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名幸电子香港有限公司（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锐明电子有限公司（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宝月湖深产投共赢企业管理有限公司（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中兴有限公司（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清华教育基金会（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（6）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开盘财富管理有限公司（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周增昌（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it-IT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417" y="5175905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6207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432435"/>
          <a:ext cx="11155680" cy="6221096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0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2692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兆威机电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太湖金谷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VVC Technology （2）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联城集团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拓斯达（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HHLRA 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 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Perseverance （6）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大成国际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广发基金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 Trading （3）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 （2）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双诚资本（通过建投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恒邦私募（通过银河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民银国际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雾淞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万源资本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2.6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文盈投资（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存然资本（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何茂灵先生（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罗杰先生（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2026-03-09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2715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埃斯顿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亨通光电国际 （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至源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裕祥（网誉科技） （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Harvest Oriental 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 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前海合眾投資 （</a:t>
                      </a:r>
                      <a:r>
                        <a:rPr lang="en-US" altLang="zh-TW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dirty="0"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9981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沃尔核材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江西省政府 （江西铜业）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惠州国资委 （惠州惠联）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山东发展投资控股集团 （国惠香港）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璞信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深圳新宙邦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上海景林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Jump Trading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深圳新世界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高时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4.4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Korea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SCV Alpha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Gallatlion Resources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Yield Royal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易亚投资管理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前海辰星投资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37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0470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先导智能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欧万达基金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无锡金筹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国泰海通）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04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2026-02-10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0600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爱芯元智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（JSC International</a:t>
                      </a:r>
                      <a:b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</a:b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Investment Fund SPC） （27）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雅戈尔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德赛西威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均胜电子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豪恩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TRS-CICC FT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观澜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国泰君安）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进益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7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5895740"/>
            <a:ext cx="317972" cy="286620"/>
          </a:xfrm>
          <a:prstGeom prst="rect">
            <a:avLst/>
          </a:prstGeom>
        </p:spPr>
      </p:pic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264962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81025" y="661670"/>
          <a:ext cx="11098530" cy="6016944"/>
        </p:xfrm>
        <a:graphic>
          <a:graphicData uri="http://schemas.openxmlformats.org/drawingml/2006/table">
            <a:tbl>
              <a:tblPr/>
              <a:tblGrid>
                <a:gridCol w="534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3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8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535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134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580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3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河南省国资委（香港豫农国际）（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（宏兴国际）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（通过中金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noProof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2026-02-04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（利冠）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10.26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14.11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5.13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1.92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2026-02-03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Al-Rayyan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 Investment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（太白及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Company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Great China Motivation Fund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37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2026-01-28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612140"/>
          <a:ext cx="11155680" cy="5907883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2026-01-22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（8）</a:t>
                      </a: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15.5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国泰君安）（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71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29.7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71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Growth Ventures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0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（30）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1.29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（10）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（8）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（2）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04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zh-TW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zh-TW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2.42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4.3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3.6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（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Sabre） （20）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（10）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（12.1）</a:t>
                      </a: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（10）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（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华泰）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（20）</a:t>
                      </a:r>
                    </a:p>
                    <a:p>
                      <a:pPr algn="ctr" fontAlgn="b"/>
                      <a:r>
                        <a:rPr lang="en-US" sz="700" b="0" i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（4）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（10.1）</a:t>
                      </a: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0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北京市国资委（璟泉启智（北京））（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进益（天津）资产管理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44.9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9.75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（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23875" y="530860"/>
          <a:ext cx="11155680" cy="6002656"/>
        </p:xfrm>
        <a:graphic>
          <a:graphicData uri="http://schemas.openxmlformats.org/drawingml/2006/table">
            <a:tbl>
              <a:tblPr/>
              <a:tblGrid>
                <a:gridCol w="591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8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2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9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4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2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上市日期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基石投资者（百万美元）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3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2026-01-12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0501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豪威集团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宁波国资委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JSC International Investment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浦东科创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华勤技术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25.71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33.68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大家人寿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中邮理财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2026-01-09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0100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MINIMAX-WP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阿里巴巴 （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China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65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博裕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汇添富基金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保诚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易方达基金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天壹资产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高毅资产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泰康人寿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8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2026-01-08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2675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精锋医疗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-B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医疗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Infini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盘京投资 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TW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TW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蔡东晨（石药集团执行董事长）（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72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2026-01-02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6082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壁仞科技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TMT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718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373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神州数码（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亿都 (</a:t>
                      </a:r>
                      <a:r>
                        <a:rPr lang="en-US" altLang="zh-CN"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Yeebo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)（6.5）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3W Fund（80）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启明创投（35）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Aspex（30）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WT（30）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Hao Capital&amp;Hao Advisors（20）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平安集团 (平安人寿保险)（15）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Huadeng Technology（15）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华侨银行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Lion Global)（15）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CICC FT (TRS-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景林)（15）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MY.Alpha（12）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Eastspring 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保诚（10）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UBS GAM（10）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泰康保险 (泰康人寿)（10）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Aspirational China Growth（10）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Charoen Pokphand（10）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国泰海通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中和)（8）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南方基金（8）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富国基金（8）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EIP（5）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Tessy（5）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华福证券 (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New Opportunities SPC)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年至今发行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1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亿美元港股</a:t>
            </a:r>
            <a:r>
              <a:rPr lang="en-US" altLang="zh-CN" kern="0"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kern="0">
                <a:ea typeface="楷体" panose="02010609060101010101" pitchFamily="49" charset="-122"/>
                <a:cs typeface="+mn-ea"/>
                <a:sym typeface="+mn-lt"/>
              </a:rPr>
              <a:t>项目基石投资情况概览</a:t>
            </a:r>
            <a:r>
              <a:rPr lang="zh-CN" altLang="en-US" kern="0" dirty="0"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（续）</a:t>
            </a:r>
          </a:p>
        </p:txBody>
      </p:sp>
      <p:pic>
        <p:nvPicPr>
          <p:cNvPr id="10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0081" y="3469850"/>
            <a:ext cx="317972" cy="286620"/>
          </a:xfrm>
          <a:prstGeom prst="rect">
            <a:avLst/>
          </a:prstGeom>
        </p:spPr>
      </p:pic>
      <p:sp>
        <p:nvSpPr>
          <p:cNvPr id="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截至2026年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10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19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日。注：1. 汇率以项目汇率为准；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6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05661" y="1075080"/>
            <a:ext cx="317972" cy="2866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79"/>
  <p:tag name="TABLE_ENDDRAG_RECT" val="45*73*884*27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79"/>
  <p:tag name="TABLE_ENDDRAG_RECT" val="45*73*884*27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289"/>
  <p:tag name="TABLE_ENDDRAG_RECT" val="45*56*884*28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3*417"/>
  <p:tag name="TABLE_ENDDRAG_RECT" val="46*48*883*41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4*446"/>
  <p:tag name="TABLE_ENDDRAG_RECT" val="42*52*884*44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0*326"/>
  <p:tag name="TABLE_ENDDRAG_RECT" val="41*51*880*3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465"/>
  <p:tag name="TABLE_ENDDRAG_RECT" val="41*43*899*46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9*383"/>
  <p:tag name="TABLE_ENDDRAG_RECT" val="41*45*899*38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7*271"/>
  <p:tag name="TABLE_ENDDRAG_RECT" val="50*62*877*27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48"/>
  <p:tag name="TABLE_ENDDRAG_RECT" val="41*62*878*44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4*465"/>
  <p:tag name="TABLE_ENDDRAG_RECT" val="30*38*894*46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94*479"/>
  <p:tag name="TABLE_ENDDRAG_RECT" val="30*38*894*4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7*492"/>
  <p:tag name="TABLE_ENDDRAG_RECT" val="41*27*877*49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32"/>
  <p:tag name="TABLE_ENDDRAG_RECT" val="41*44*878*43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3*327"/>
  <p:tag name="TABLE_ENDDRAG_RECT" val="45*52*873*32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344"/>
  <p:tag name="TABLE_ENDDRAG_RECT" val="41*48*878*34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8*449"/>
  <p:tag name="TABLE_ENDDRAG_RECT" val="41*48*878*44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9366</Words>
  <Application>Microsoft Office PowerPoint</Application>
  <PresentationFormat>Widescreen</PresentationFormat>
  <Paragraphs>1956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 Unicode MS</vt:lpstr>
      <vt:lpstr>等线</vt:lpstr>
      <vt:lpstr>等线 Light</vt:lpstr>
      <vt:lpstr>楷体</vt:lpstr>
      <vt:lpstr>微软雅黑</vt:lpstr>
      <vt:lpstr>Arial</vt:lpstr>
      <vt:lpstr>calibri</vt:lpstr>
      <vt:lpstr>calibri</vt:lpstr>
      <vt:lpstr>Office 主题​​</vt:lpstr>
      <vt:lpstr>1</vt:lpstr>
      <vt:lpstr>2026年至今发行1亿美元港股IPO项目基石投资情况概览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Coco Li 李柯穎</cp:lastModifiedBy>
  <cp:revision>273</cp:revision>
  <dcterms:created xsi:type="dcterms:W3CDTF">2026-01-07T08:09:00Z</dcterms:created>
  <dcterms:modified xsi:type="dcterms:W3CDTF">2026-10-29T09:54:32Z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14D584663B21457BB83B38FFE675927D_13</vt:lpwstr>
  </property>
  <property fmtid="{D5CDD505-2E9C-101B-9397-08002B2CF9AE}" pid="3" name="KSOProductBuildVer">
    <vt:lpwstr>2052-12.1.0.28505</vt:lpwstr>
  </property>
</Properties>
</file>